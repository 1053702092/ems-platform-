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handoutMasterIdLst>
    <p:handoutMasterId r:id="rId11"/>
  </p:handoutMasterIdLst>
  <p:sldIdLst>
    <p:sldId id="376" r:id="rId2"/>
    <p:sldId id="377" r:id="rId3"/>
    <p:sldId id="384" r:id="rId4"/>
    <p:sldId id="381" r:id="rId5"/>
    <p:sldId id="382" r:id="rId6"/>
    <p:sldId id="383" r:id="rId7"/>
    <p:sldId id="378" r:id="rId8"/>
    <p:sldId id="380" r:id="rId9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楷体_GB2312" pitchFamily="1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楷体_GB2312" pitchFamily="1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楷体_GB2312" pitchFamily="1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楷体_GB2312" pitchFamily="1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楷体_GB2312" pitchFamily="1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楷体_GB2312" pitchFamily="1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楷体_GB2312" pitchFamily="1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楷体_GB2312" pitchFamily="1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楷体_GB2312" pitchFamily="1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齐正达" initials="齐正达" lastIdx="3" clrIdx="0">
    <p:extLst>
      <p:ext uri="{19B8F6BF-5375-455C-9EA6-DF929625EA0E}">
        <p15:presenceInfo xmlns:p15="http://schemas.microsoft.com/office/powerpoint/2012/main" userId="239d72632fd6e1d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FF"/>
    <a:srgbClr val="FF9900"/>
    <a:srgbClr val="9D9333"/>
    <a:srgbClr val="99CCFF"/>
    <a:srgbClr val="ABF2A6"/>
    <a:srgbClr val="000066"/>
    <a:srgbClr val="B4332A"/>
    <a:srgbClr val="33CCFF"/>
    <a:srgbClr val="0099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696" autoAdjust="0"/>
    <p:restoredTop sz="95244" autoAdjust="0"/>
  </p:normalViewPr>
  <p:slideViewPr>
    <p:cSldViewPr>
      <p:cViewPr varScale="1">
        <p:scale>
          <a:sx n="86" d="100"/>
          <a:sy n="86" d="100"/>
        </p:scale>
        <p:origin x="1488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52" d="100"/>
          <a:sy n="52" d="100"/>
        </p:scale>
        <p:origin x="2680" y="5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B4C2FE-BCC7-463C-94EB-9E342E89CA35}" type="datetimeFigureOut">
              <a:rPr lang="zh-CN" altLang="en-US" smtClean="0"/>
              <a:pPr/>
              <a:t>2025/8/22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9603A-5819-40AC-9E34-D2DC3C68227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05594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FCAEDEFF-3DA6-4722-9A39-F2664AFAF64A}" type="datetimeFigureOut">
              <a:rPr lang="zh-CN" altLang="en-US"/>
              <a:pPr>
                <a:defRPr/>
              </a:pPr>
              <a:t>2025/8/22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5844629-A8B0-4E34-BA80-0A47834F325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534526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5844629-A8B0-4E34-BA80-0A47834F325E}" type="slidenum">
              <a:rPr lang="zh-CN" altLang="en-US" smtClean="0"/>
              <a:pPr>
                <a:defRPr/>
              </a:pPr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86067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5844629-A8B0-4E34-BA80-0A47834F325E}" type="slidenum">
              <a:rPr lang="zh-CN" altLang="en-US" smtClean="0"/>
              <a:pPr>
                <a:defRPr/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88751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5844629-A8B0-4E34-BA80-0A47834F325E}" type="slidenum">
              <a:rPr lang="zh-CN" altLang="en-US" smtClean="0"/>
              <a:pPr>
                <a:defRPr/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70003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5844629-A8B0-4E34-BA80-0A47834F325E}" type="slidenum">
              <a:rPr lang="zh-CN" altLang="en-US" smtClean="0"/>
              <a:pPr>
                <a:defRPr/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59104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5844629-A8B0-4E34-BA80-0A47834F325E}" type="slidenum">
              <a:rPr lang="zh-CN" altLang="en-US" smtClean="0"/>
              <a:pPr>
                <a:defRPr/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97260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5844629-A8B0-4E34-BA80-0A47834F325E}" type="slidenum">
              <a:rPr lang="zh-CN" altLang="en-US" smtClean="0"/>
              <a:pPr>
                <a:defRPr/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64473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5844629-A8B0-4E34-BA80-0A47834F325E}" type="slidenum">
              <a:rPr lang="zh-CN" altLang="en-US" smtClean="0"/>
              <a:pPr>
                <a:defRPr/>
              </a:p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45090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1"/>
          <p:cNvSpPr>
            <a:spLocks noChangeArrowheads="1"/>
          </p:cNvSpPr>
          <p:nvPr userDrawn="1"/>
        </p:nvSpPr>
        <p:spPr bwMode="auto">
          <a:xfrm>
            <a:off x="107950" y="5627688"/>
            <a:ext cx="152400" cy="152400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b="1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</a:defRPr>
            </a:lvl5pPr>
            <a:lvl6pPr marL="2514600" indent="-228600" algn="just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b="1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</a:defRPr>
            </a:lvl6pPr>
            <a:lvl7pPr marL="2971800" indent="-228600" algn="just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b="1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</a:defRPr>
            </a:lvl7pPr>
            <a:lvl8pPr marL="3429000" indent="-228600" algn="just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b="1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</a:defRPr>
            </a:lvl8pPr>
            <a:lvl9pPr marL="3886200" indent="-228600" algn="just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b="1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sz="2800">
              <a:solidFill>
                <a:srgbClr val="000000"/>
              </a:solidFill>
              <a:latin typeface="Arial" pitchFamily="34" charset="0"/>
              <a:ea typeface="黑体" pitchFamily="49" charset="-122"/>
            </a:endParaRPr>
          </a:p>
        </p:txBody>
      </p:sp>
      <p:sp>
        <p:nvSpPr>
          <p:cNvPr id="5" name="AutoShape 12"/>
          <p:cNvSpPr>
            <a:spLocks noChangeArrowheads="1"/>
          </p:cNvSpPr>
          <p:nvPr userDrawn="1"/>
        </p:nvSpPr>
        <p:spPr bwMode="auto">
          <a:xfrm>
            <a:off x="107950" y="5916613"/>
            <a:ext cx="152400" cy="152400"/>
          </a:xfrm>
          <a:prstGeom prst="roundRect">
            <a:avLst>
              <a:gd name="adj" fmla="val 16667"/>
            </a:avLst>
          </a:prstGeom>
          <a:solidFill>
            <a:srgbClr val="C3FF1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b="1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</a:defRPr>
            </a:lvl5pPr>
            <a:lvl6pPr marL="2514600" indent="-228600" algn="just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b="1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</a:defRPr>
            </a:lvl6pPr>
            <a:lvl7pPr marL="2971800" indent="-228600" algn="just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b="1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</a:defRPr>
            </a:lvl7pPr>
            <a:lvl8pPr marL="3429000" indent="-228600" algn="just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b="1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</a:defRPr>
            </a:lvl8pPr>
            <a:lvl9pPr marL="3886200" indent="-228600" algn="just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b="1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sz="2800">
              <a:solidFill>
                <a:srgbClr val="000000"/>
              </a:solidFill>
              <a:latin typeface="Arial" pitchFamily="34" charset="0"/>
              <a:ea typeface="黑体" pitchFamily="49" charset="-122"/>
            </a:endParaRPr>
          </a:p>
        </p:txBody>
      </p:sp>
      <p:sp>
        <p:nvSpPr>
          <p:cNvPr id="6" name="AutoShape 13"/>
          <p:cNvSpPr>
            <a:spLocks noChangeArrowheads="1"/>
          </p:cNvSpPr>
          <p:nvPr userDrawn="1"/>
        </p:nvSpPr>
        <p:spPr bwMode="auto">
          <a:xfrm>
            <a:off x="107950" y="6203950"/>
            <a:ext cx="152400" cy="152400"/>
          </a:xfrm>
          <a:prstGeom prst="roundRect">
            <a:avLst>
              <a:gd name="adj" fmla="val 16667"/>
            </a:avLst>
          </a:prstGeom>
          <a:solidFill>
            <a:srgbClr val="E0FF8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b="1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</a:defRPr>
            </a:lvl5pPr>
            <a:lvl6pPr marL="2514600" indent="-228600" algn="just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b="1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</a:defRPr>
            </a:lvl6pPr>
            <a:lvl7pPr marL="2971800" indent="-228600" algn="just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b="1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</a:defRPr>
            </a:lvl7pPr>
            <a:lvl8pPr marL="3429000" indent="-228600" algn="just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b="1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</a:defRPr>
            </a:lvl8pPr>
            <a:lvl9pPr marL="3886200" indent="-228600" algn="just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b="1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sz="2800">
              <a:solidFill>
                <a:srgbClr val="000000"/>
              </a:solidFill>
              <a:latin typeface="Arial" pitchFamily="34" charset="0"/>
              <a:ea typeface="黑体" pitchFamily="49" charset="-122"/>
            </a:endParaRPr>
          </a:p>
        </p:txBody>
      </p:sp>
      <p:sp>
        <p:nvSpPr>
          <p:cNvPr id="7" name="AutoShape 14"/>
          <p:cNvSpPr>
            <a:spLocks noChangeArrowheads="1"/>
          </p:cNvSpPr>
          <p:nvPr userDrawn="1"/>
        </p:nvSpPr>
        <p:spPr bwMode="auto">
          <a:xfrm>
            <a:off x="107950" y="6491288"/>
            <a:ext cx="152400" cy="152400"/>
          </a:xfrm>
          <a:prstGeom prst="roundRect">
            <a:avLst>
              <a:gd name="adj" fmla="val 16667"/>
            </a:avLst>
          </a:prstGeom>
          <a:solidFill>
            <a:srgbClr val="EEFFB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b="1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</a:defRPr>
            </a:lvl5pPr>
            <a:lvl6pPr marL="2514600" indent="-228600" algn="just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b="1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</a:defRPr>
            </a:lvl6pPr>
            <a:lvl7pPr marL="2971800" indent="-228600" algn="just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b="1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</a:defRPr>
            </a:lvl7pPr>
            <a:lvl8pPr marL="3429000" indent="-228600" algn="just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b="1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</a:defRPr>
            </a:lvl8pPr>
            <a:lvl9pPr marL="3886200" indent="-228600" algn="just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b="1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sz="2800">
              <a:solidFill>
                <a:srgbClr val="000000"/>
              </a:solidFill>
              <a:latin typeface="Arial" pitchFamily="34" charset="0"/>
              <a:ea typeface="黑体" pitchFamily="49" charset="-122"/>
            </a:endParaRPr>
          </a:p>
        </p:txBody>
      </p:sp>
      <p:sp>
        <p:nvSpPr>
          <p:cNvPr id="8" name="AutoShape 15"/>
          <p:cNvSpPr>
            <a:spLocks noChangeArrowheads="1"/>
          </p:cNvSpPr>
          <p:nvPr userDrawn="1"/>
        </p:nvSpPr>
        <p:spPr bwMode="auto">
          <a:xfrm>
            <a:off x="107950" y="5346700"/>
            <a:ext cx="152400" cy="152400"/>
          </a:xfrm>
          <a:prstGeom prst="roundRect">
            <a:avLst>
              <a:gd name="adj" fmla="val 16667"/>
            </a:avLst>
          </a:prstGeom>
          <a:solidFill>
            <a:srgbClr val="78A2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b="1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</a:defRPr>
            </a:lvl5pPr>
            <a:lvl6pPr marL="2514600" indent="-228600" algn="just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b="1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</a:defRPr>
            </a:lvl6pPr>
            <a:lvl7pPr marL="2971800" indent="-228600" algn="just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b="1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</a:defRPr>
            </a:lvl7pPr>
            <a:lvl8pPr marL="3429000" indent="-228600" algn="just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b="1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</a:defRPr>
            </a:lvl8pPr>
            <a:lvl9pPr marL="3886200" indent="-228600" algn="just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b="1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sz="2800">
              <a:solidFill>
                <a:srgbClr val="000000"/>
              </a:solidFill>
              <a:latin typeface="Arial" pitchFamily="34" charset="0"/>
              <a:ea typeface="黑体" pitchFamily="49" charset="-122"/>
            </a:endParaRPr>
          </a:p>
        </p:txBody>
      </p:sp>
      <p:pic>
        <p:nvPicPr>
          <p:cNvPr id="9" name="图片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5397500"/>
            <a:ext cx="3635375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73527"/>
      </p:ext>
    </p:extLst>
  </p:cSld>
  <p:clrMapOvr>
    <a:masterClrMapping/>
  </p:clrMapOvr>
  <p:transition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7" name="圆角矩形 6"/>
          <p:cNvSpPr/>
          <p:nvPr userDrawn="1"/>
        </p:nvSpPr>
        <p:spPr bwMode="auto">
          <a:xfrm>
            <a:off x="7668344" y="6165304"/>
            <a:ext cx="872406" cy="504056"/>
          </a:xfrm>
          <a:prstGeom prst="roundRect">
            <a:avLst/>
          </a:prstGeom>
          <a:solidFill>
            <a:schemeClr val="bg1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fld id="{C9898587-C365-445B-9253-6EC87ACB463A}" type="slidenum">
              <a:rPr lang="en-US" altLang="zh-CN" sz="2800" smtClean="0"/>
              <a:pPr algn="ctr"/>
              <a:t>‹#›</a:t>
            </a:fld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973784222"/>
      </p:ext>
    </p:extLst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87413" y="188913"/>
            <a:ext cx="74295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1290638"/>
            <a:ext cx="8001000" cy="222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609600" y="922338"/>
            <a:ext cx="7418388" cy="69850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00CC"/>
          </a:solidFill>
          <a:ln w="31750">
            <a:solidFill>
              <a:srgbClr val="0000CC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29" name="图片 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400" y="71438"/>
            <a:ext cx="904875" cy="85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27" r:id="rId1"/>
    <p:sldLayoutId id="2147484116" r:id="rId2"/>
  </p:sldLayoutIdLst>
  <p:transition>
    <p:random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66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66"/>
          </a:solidFill>
          <a:latin typeface="Verdana" pitchFamily="34" charset="0"/>
          <a:ea typeface="黑体" pitchFamily="2" charset="-122"/>
          <a:cs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66"/>
          </a:solidFill>
          <a:latin typeface="Verdana" pitchFamily="34" charset="0"/>
          <a:ea typeface="黑体" pitchFamily="2" charset="-122"/>
          <a:cs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66"/>
          </a:solidFill>
          <a:latin typeface="Verdana" pitchFamily="34" charset="0"/>
          <a:ea typeface="黑体" pitchFamily="2" charset="-122"/>
          <a:cs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66"/>
          </a:solidFill>
          <a:latin typeface="Verdana" pitchFamily="34" charset="0"/>
          <a:ea typeface="黑体" pitchFamily="2" charset="-122"/>
          <a:cs typeface="宋体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66"/>
          </a:solidFill>
          <a:latin typeface="Verdana" pitchFamily="34" charset="0"/>
          <a:ea typeface="黑体" pitchFamily="2" charset="-122"/>
          <a:cs typeface="宋体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66"/>
          </a:solidFill>
          <a:latin typeface="Verdana" pitchFamily="34" charset="0"/>
          <a:ea typeface="黑体" pitchFamily="2" charset="-122"/>
          <a:cs typeface="宋体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66"/>
          </a:solidFill>
          <a:latin typeface="Verdana" pitchFamily="34" charset="0"/>
          <a:ea typeface="黑体" pitchFamily="2" charset="-122"/>
          <a:cs typeface="宋体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66"/>
          </a:solidFill>
          <a:latin typeface="Verdana" pitchFamily="34" charset="0"/>
          <a:ea typeface="黑体" pitchFamily="2" charset="-122"/>
          <a:cs typeface="宋体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400" b="1">
          <a:solidFill>
            <a:srgbClr val="000066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400" b="1">
          <a:solidFill>
            <a:srgbClr val="000066"/>
          </a:solidFill>
          <a:latin typeface="+mn-lt"/>
          <a:ea typeface="+mn-ea"/>
          <a:cs typeface="+mn-cs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400" b="1">
          <a:solidFill>
            <a:srgbClr val="000066"/>
          </a:solidFill>
          <a:latin typeface="+mn-lt"/>
          <a:ea typeface="+mn-ea"/>
          <a:cs typeface="+mn-cs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400" b="1">
          <a:solidFill>
            <a:srgbClr val="000066"/>
          </a:solidFill>
          <a:latin typeface="+mn-lt"/>
          <a:ea typeface="+mn-ea"/>
          <a:cs typeface="+mn-cs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400" b="1">
          <a:solidFill>
            <a:srgbClr val="000066"/>
          </a:solidFill>
          <a:latin typeface="+mn-lt"/>
          <a:ea typeface="+mn-ea"/>
          <a:cs typeface="+mn-cs"/>
        </a:defRPr>
      </a:lvl5pPr>
      <a:lvl6pPr marL="25511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400" b="1">
          <a:solidFill>
            <a:srgbClr val="000066"/>
          </a:solidFill>
          <a:latin typeface="+mn-lt"/>
          <a:ea typeface="+mn-ea"/>
          <a:cs typeface="+mn-cs"/>
        </a:defRPr>
      </a:lvl6pPr>
      <a:lvl7pPr marL="30083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400" b="1">
          <a:solidFill>
            <a:srgbClr val="000066"/>
          </a:solidFill>
          <a:latin typeface="+mn-lt"/>
          <a:ea typeface="+mn-ea"/>
          <a:cs typeface="+mn-cs"/>
        </a:defRPr>
      </a:lvl7pPr>
      <a:lvl8pPr marL="34655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400" b="1">
          <a:solidFill>
            <a:srgbClr val="000066"/>
          </a:solidFill>
          <a:latin typeface="+mn-lt"/>
          <a:ea typeface="+mn-ea"/>
          <a:cs typeface="+mn-cs"/>
        </a:defRPr>
      </a:lvl8pPr>
      <a:lvl9pPr marL="39227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400" b="1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png"/><Relationship Id="rId3" Type="http://schemas.openxmlformats.org/officeDocument/2006/relationships/image" Target="../media/image4.png"/><Relationship Id="rId7" Type="http://schemas.openxmlformats.org/officeDocument/2006/relationships/image" Target="../media/image5.emf"/><Relationship Id="rId12" Type="http://schemas.openxmlformats.org/officeDocument/2006/relationships/image" Target="../media/image2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7.png"/><Relationship Id="rId11" Type="http://schemas.openxmlformats.org/officeDocument/2006/relationships/image" Target="../media/image200.png"/><Relationship Id="rId5" Type="http://schemas.openxmlformats.org/officeDocument/2006/relationships/image" Target="../media/image1410.png"/><Relationship Id="rId10" Type="http://schemas.openxmlformats.org/officeDocument/2006/relationships/image" Target="../media/image191.png"/><Relationship Id="rId4" Type="http://schemas.openxmlformats.org/officeDocument/2006/relationships/image" Target="../media/image13.png"/><Relationship Id="rId9" Type="http://schemas.openxmlformats.org/officeDocument/2006/relationships/image" Target="../media/image18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13" Type="http://schemas.openxmlformats.org/officeDocument/2006/relationships/image" Target="../media/image1310.png"/><Relationship Id="rId3" Type="http://schemas.openxmlformats.org/officeDocument/2006/relationships/image" Target="../media/image121.png"/><Relationship Id="rId7" Type="http://schemas.openxmlformats.org/officeDocument/2006/relationships/image" Target="../media/image125.png"/><Relationship Id="rId12" Type="http://schemas.openxmlformats.org/officeDocument/2006/relationships/image" Target="../media/image130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4.png"/><Relationship Id="rId11" Type="http://schemas.openxmlformats.org/officeDocument/2006/relationships/image" Target="../media/image1290.png"/><Relationship Id="rId5" Type="http://schemas.openxmlformats.org/officeDocument/2006/relationships/image" Target="../media/image123.png"/><Relationship Id="rId10" Type="http://schemas.openxmlformats.org/officeDocument/2006/relationships/image" Target="../media/image128.png"/><Relationship Id="rId4" Type="http://schemas.openxmlformats.org/officeDocument/2006/relationships/image" Target="../media/image122.png"/><Relationship Id="rId9" Type="http://schemas.openxmlformats.org/officeDocument/2006/relationships/image" Target="../media/image127.png"/><Relationship Id="rId14" Type="http://schemas.openxmlformats.org/officeDocument/2006/relationships/image" Target="../media/image13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png"/><Relationship Id="rId3" Type="http://schemas.openxmlformats.org/officeDocument/2006/relationships/image" Target="../media/image133.png"/><Relationship Id="rId7" Type="http://schemas.openxmlformats.org/officeDocument/2006/relationships/image" Target="../media/image137.png"/><Relationship Id="rId12" Type="http://schemas.openxmlformats.org/officeDocument/2006/relationships/image" Target="../media/image3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6.png"/><Relationship Id="rId11" Type="http://schemas.openxmlformats.org/officeDocument/2006/relationships/image" Target="../media/image300.png"/><Relationship Id="rId5" Type="http://schemas.openxmlformats.org/officeDocument/2006/relationships/image" Target="../media/image135.png"/><Relationship Id="rId10" Type="http://schemas.openxmlformats.org/officeDocument/2006/relationships/image" Target="../media/image290.png"/><Relationship Id="rId4" Type="http://schemas.openxmlformats.org/officeDocument/2006/relationships/image" Target="../media/image134.png"/><Relationship Id="rId9" Type="http://schemas.openxmlformats.org/officeDocument/2006/relationships/image" Target="../media/image13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png"/><Relationship Id="rId3" Type="http://schemas.openxmlformats.org/officeDocument/2006/relationships/image" Target="../media/image140.png"/><Relationship Id="rId7" Type="http://schemas.openxmlformats.org/officeDocument/2006/relationships/image" Target="../media/image144.png"/><Relationship Id="rId12" Type="http://schemas.openxmlformats.org/officeDocument/2006/relationships/image" Target="../media/image14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3.png"/><Relationship Id="rId11" Type="http://schemas.openxmlformats.org/officeDocument/2006/relationships/image" Target="../media/image148.png"/><Relationship Id="rId5" Type="http://schemas.openxmlformats.org/officeDocument/2006/relationships/image" Target="../media/image142.png"/><Relationship Id="rId10" Type="http://schemas.openxmlformats.org/officeDocument/2006/relationships/image" Target="../media/image147.png"/><Relationship Id="rId4" Type="http://schemas.openxmlformats.org/officeDocument/2006/relationships/image" Target="../media/image141.png"/><Relationship Id="rId9" Type="http://schemas.openxmlformats.org/officeDocument/2006/relationships/image" Target="../media/image14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png"/><Relationship Id="rId3" Type="http://schemas.openxmlformats.org/officeDocument/2006/relationships/image" Target="../media/image150.png"/><Relationship Id="rId7" Type="http://schemas.openxmlformats.org/officeDocument/2006/relationships/image" Target="../media/image15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3.png"/><Relationship Id="rId5" Type="http://schemas.openxmlformats.org/officeDocument/2006/relationships/image" Target="../media/image152.png"/><Relationship Id="rId4" Type="http://schemas.openxmlformats.org/officeDocument/2006/relationships/image" Target="../media/image151.png"/><Relationship Id="rId9" Type="http://schemas.openxmlformats.org/officeDocument/2006/relationships/image" Target="../media/image15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png"/><Relationship Id="rId3" Type="http://schemas.openxmlformats.org/officeDocument/2006/relationships/oleObject" Target="../embeddings/oleObject1.bin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410.png"/><Relationship Id="rId4" Type="http://schemas.openxmlformats.org/officeDocument/2006/relationships/image" Target="../media/image6.wmf"/><Relationship Id="rId9" Type="http://schemas.openxmlformats.org/officeDocument/2006/relationships/image" Target="../media/image40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0.png"/><Relationship Id="rId3" Type="http://schemas.openxmlformats.org/officeDocument/2006/relationships/image" Target="../media/image420.png"/><Relationship Id="rId7" Type="http://schemas.openxmlformats.org/officeDocument/2006/relationships/image" Target="../media/image45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microsoft.com/office/2017/06/relationships/model3d" Target="../media/model3d1.glb"/><Relationship Id="rId4" Type="http://schemas.openxmlformats.org/officeDocument/2006/relationships/image" Target="../media/image4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7A3B994-5CE1-04E1-79F7-C48C40012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三、燃料电池系统建模</a:t>
            </a:r>
          </a:p>
        </p:txBody>
      </p:sp>
      <p:sp>
        <p:nvSpPr>
          <p:cNvPr id="4" name="内容占位符 1">
            <a:extLst>
              <a:ext uri="{FF2B5EF4-FFF2-40B4-BE49-F238E27FC236}">
                <a16:creationId xmlns:a16="http://schemas.microsoft.com/office/drawing/2014/main" id="{D20FB510-1B48-8C77-40B7-181D3D27A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1196752"/>
            <a:ext cx="8064698" cy="1791260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1.</a:t>
            </a:r>
            <a:r>
              <a:rPr lang="zh-CN" altLang="en-US" dirty="0"/>
              <a:t> 燃料电池系统组成</a:t>
            </a:r>
            <a:endParaRPr lang="en-US" altLang="zh-CN" dirty="0"/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sz="1800" b="0" dirty="0"/>
              <a:t>燃料电池堆</a:t>
            </a:r>
            <a:endParaRPr lang="en-US" altLang="zh-CN" sz="1800" b="0" dirty="0"/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sz="1800" b="0" dirty="0"/>
              <a:t>空气供给系统：空压机、中冷器、加湿器、背压阀、歧管等</a:t>
            </a:r>
            <a:endParaRPr lang="en-US" altLang="zh-CN" sz="1800" b="0" dirty="0"/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sz="1800" b="0" dirty="0"/>
              <a:t>氢气供给系统：比例阀、氢气循环泵、尾排阀、水气分离器、歧管等</a:t>
            </a:r>
            <a:endParaRPr lang="en-US" altLang="zh-CN" sz="1800" b="0" dirty="0"/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sz="1800" b="0" dirty="0"/>
              <a:t>冷却系统：水泵、散热器、水箱等</a:t>
            </a:r>
            <a:endParaRPr lang="en-US" altLang="zh-CN" sz="1800" b="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FCAB63E-2867-FF8E-0B3D-57DADF5DB308}"/>
              </a:ext>
            </a:extLst>
          </p:cNvPr>
          <p:cNvSpPr txBox="1"/>
          <p:nvPr/>
        </p:nvSpPr>
        <p:spPr>
          <a:xfrm>
            <a:off x="3858531" y="6519446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燃料电池系统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6AC1988-364E-90F4-E864-436B6D80CA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412" y="2988011"/>
            <a:ext cx="6996956" cy="3543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290094"/>
      </p:ext>
    </p:extLst>
  </p:cSld>
  <p:clrMapOvr>
    <a:masterClrMapping/>
  </p:clrMapOvr>
  <p:transition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7A3B994-5CE1-04E1-79F7-C48C40012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三、燃料电池系统建模</a:t>
            </a:r>
          </a:p>
        </p:txBody>
      </p:sp>
      <p:sp>
        <p:nvSpPr>
          <p:cNvPr id="4" name="内容占位符 1">
            <a:extLst>
              <a:ext uri="{FF2B5EF4-FFF2-40B4-BE49-F238E27FC236}">
                <a16:creationId xmlns:a16="http://schemas.microsoft.com/office/drawing/2014/main" id="{D20FB510-1B48-8C77-40B7-181D3D27A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1196752"/>
            <a:ext cx="4248472" cy="794064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2.</a:t>
            </a:r>
            <a:r>
              <a:rPr lang="zh-CN" altLang="en-US" dirty="0"/>
              <a:t> 空气供给系统模型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1800" b="0" dirty="0"/>
              <a:t>2.1 </a:t>
            </a:r>
            <a:r>
              <a:rPr lang="zh-CN" altLang="en-US" sz="1800" b="0" dirty="0"/>
              <a:t>空压机模型</a:t>
            </a:r>
            <a:endParaRPr lang="en-US" altLang="zh-CN" sz="1800" b="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8279D75-1336-FDD2-E867-D473DD182AD2}"/>
              </a:ext>
            </a:extLst>
          </p:cNvPr>
          <p:cNvSpPr txBox="1"/>
          <p:nvPr/>
        </p:nvSpPr>
        <p:spPr>
          <a:xfrm>
            <a:off x="467544" y="204373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0066"/>
                </a:solidFill>
                <a:latin typeface="+mn-lt"/>
                <a:ea typeface="+mn-ea"/>
              </a:rPr>
              <a:t>空压机转速通过力矩平衡方程求得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8271A25-BE44-7B96-0938-75EF774DA1AF}"/>
              </a:ext>
            </a:extLst>
          </p:cNvPr>
          <p:cNvSpPr txBox="1"/>
          <p:nvPr/>
        </p:nvSpPr>
        <p:spPr>
          <a:xfrm>
            <a:off x="467544" y="3928337"/>
            <a:ext cx="5184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0066"/>
                </a:solidFill>
                <a:latin typeface="+mn-lt"/>
                <a:ea typeface="+mn-ea"/>
              </a:rPr>
              <a:t>空压机需求转矩通过功耗与转速确定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21505C1-3374-4A68-C82F-873BE13305E4}"/>
              </a:ext>
            </a:extLst>
          </p:cNvPr>
          <p:cNvSpPr txBox="1"/>
          <p:nvPr/>
        </p:nvSpPr>
        <p:spPr>
          <a:xfrm>
            <a:off x="467544" y="299330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solidFill>
                  <a:srgbClr val="000066"/>
                </a:solidFill>
                <a:latin typeface="+mn-lt"/>
                <a:ea typeface="+mn-ea"/>
              </a:defRPr>
            </a:lvl1pPr>
          </a:lstStyle>
          <a:p>
            <a:r>
              <a:rPr lang="zh-CN" altLang="en-US" dirty="0"/>
              <a:t>空压机电机输入转矩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63B23EF7-ED4D-0D87-28FC-37D123B8D3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1573" y="5075034"/>
            <a:ext cx="2256861" cy="16899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8FDDD5D-A2B6-9ADE-F3EA-FAA412F730FA}"/>
                  </a:ext>
                </a:extLst>
              </p:cNvPr>
              <p:cNvSpPr txBox="1"/>
              <p:nvPr/>
            </p:nvSpPr>
            <p:spPr>
              <a:xfrm>
                <a:off x="577582" y="2383690"/>
                <a:ext cx="2143151" cy="5329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𝑐𝑝</m:t>
                          </m:r>
                        </m:sub>
                      </m:sSub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𝑐𝑝</m:t>
                              </m:r>
                            </m:sub>
                          </m:sSub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𝑐𝑚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𝑐𝑝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8FDDD5D-A2B6-9ADE-F3EA-FAA412F730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582" y="2383690"/>
                <a:ext cx="2143151" cy="5329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257F1093-A737-0EDB-B970-4DE91EEDD3C9}"/>
                  </a:ext>
                </a:extLst>
              </p:cNvPr>
              <p:cNvSpPr txBox="1"/>
              <p:nvPr/>
            </p:nvSpPr>
            <p:spPr>
              <a:xfrm>
                <a:off x="507604" y="4244986"/>
                <a:ext cx="3746651" cy="7167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𝑐𝑝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𝑎𝑡𝑚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𝑐𝑝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𝑐𝑝</m:t>
                              </m:r>
                            </m:sub>
                          </m:sSub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𝑠𝑚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𝑎𝑡𝑚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b="0" i="1" smtClean="0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num>
                                <m:den>
                                  <m:r>
                                    <a:rPr lang="zh-CN" altLang="en-US" b="0" i="1" smtClean="0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den>
                              </m:f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𝑐𝑝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257F1093-A737-0EDB-B970-4DE91EEDD3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604" y="4244986"/>
                <a:ext cx="3746651" cy="7167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6071AF6-F1AF-213A-FE12-4F425F2E48F8}"/>
                  </a:ext>
                </a:extLst>
              </p:cNvPr>
              <p:cNvSpPr txBox="1"/>
              <p:nvPr/>
            </p:nvSpPr>
            <p:spPr>
              <a:xfrm>
                <a:off x="507604" y="3260681"/>
                <a:ext cx="3097462" cy="6635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𝑐𝑚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𝑐𝑚</m:t>
                          </m:r>
                        </m:sub>
                      </m:sSub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𝑐𝑚</m:t>
                              </m:r>
                            </m:sub>
                          </m:sSub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𝜐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𝑐𝑚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𝑐𝑝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6071AF6-F1AF-213A-FE12-4F425F2E48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604" y="3260681"/>
                <a:ext cx="3097462" cy="66358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图片 19">
            <a:extLst>
              <a:ext uri="{FF2B5EF4-FFF2-40B4-BE49-F238E27FC236}">
                <a16:creationId xmlns:a16="http://schemas.microsoft.com/office/drawing/2014/main" id="{99B50FB0-930E-6601-77E3-80F56B797F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3763" y="2809729"/>
            <a:ext cx="2456874" cy="2099373"/>
          </a:xfrm>
          <a:prstGeom prst="rect">
            <a:avLst/>
          </a:prstGeom>
        </p:spPr>
      </p:pic>
      <p:sp>
        <p:nvSpPr>
          <p:cNvPr id="21" name="箭头: 右 20">
            <a:extLst>
              <a:ext uri="{FF2B5EF4-FFF2-40B4-BE49-F238E27FC236}">
                <a16:creationId xmlns:a16="http://schemas.microsoft.com/office/drawing/2014/main" id="{CBDB3A5E-EA0D-9E30-E609-321470A688D2}"/>
              </a:ext>
            </a:extLst>
          </p:cNvPr>
          <p:cNvSpPr/>
          <p:nvPr/>
        </p:nvSpPr>
        <p:spPr bwMode="auto">
          <a:xfrm rot="11483225">
            <a:off x="7277213" y="3770305"/>
            <a:ext cx="646847" cy="307913"/>
          </a:xfrm>
          <a:prstGeom prst="rightArrow">
            <a:avLst/>
          </a:prstGeom>
          <a:solidFill>
            <a:srgbClr val="FF0000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23" name="箭头: 右 22">
            <a:extLst>
              <a:ext uri="{FF2B5EF4-FFF2-40B4-BE49-F238E27FC236}">
                <a16:creationId xmlns:a16="http://schemas.microsoft.com/office/drawing/2014/main" id="{6B5E01A1-EB8C-BF3A-A000-9906411AFC38}"/>
              </a:ext>
            </a:extLst>
          </p:cNvPr>
          <p:cNvSpPr/>
          <p:nvPr/>
        </p:nvSpPr>
        <p:spPr bwMode="auto">
          <a:xfrm rot="6918545">
            <a:off x="6433723" y="4698863"/>
            <a:ext cx="423498" cy="290798"/>
          </a:xfrm>
          <a:prstGeom prst="rightArrow">
            <a:avLst/>
          </a:prstGeom>
          <a:solidFill>
            <a:srgbClr val="FF0000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25" name="圆柱体 24">
            <a:extLst>
              <a:ext uri="{FF2B5EF4-FFF2-40B4-BE49-F238E27FC236}">
                <a16:creationId xmlns:a16="http://schemas.microsoft.com/office/drawing/2014/main" id="{835C0DC5-F849-8801-049B-0BEA5F38E8A0}"/>
              </a:ext>
            </a:extLst>
          </p:cNvPr>
          <p:cNvSpPr/>
          <p:nvPr/>
        </p:nvSpPr>
        <p:spPr bwMode="auto">
          <a:xfrm rot="16200000">
            <a:off x="7098853" y="1163748"/>
            <a:ext cx="844096" cy="709441"/>
          </a:xfrm>
          <a:prstGeom prst="can">
            <a:avLst/>
          </a:prstGeom>
          <a:solidFill>
            <a:schemeClr val="bg1"/>
          </a:solidFill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24" name="圆柱体 23">
            <a:extLst>
              <a:ext uri="{FF2B5EF4-FFF2-40B4-BE49-F238E27FC236}">
                <a16:creationId xmlns:a16="http://schemas.microsoft.com/office/drawing/2014/main" id="{3C695642-5557-4015-FB47-711D424F00D9}"/>
              </a:ext>
            </a:extLst>
          </p:cNvPr>
          <p:cNvSpPr/>
          <p:nvPr/>
        </p:nvSpPr>
        <p:spPr bwMode="auto">
          <a:xfrm rot="16200000">
            <a:off x="6525456" y="959282"/>
            <a:ext cx="323047" cy="1152129"/>
          </a:xfrm>
          <a:prstGeom prst="can">
            <a:avLst/>
          </a:prstGeom>
          <a:solidFill>
            <a:schemeClr val="bg1"/>
          </a:solidFill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9" name="圆柱体 8">
            <a:extLst>
              <a:ext uri="{FF2B5EF4-FFF2-40B4-BE49-F238E27FC236}">
                <a16:creationId xmlns:a16="http://schemas.microsoft.com/office/drawing/2014/main" id="{71F93AD4-8B44-D6CD-F841-F61AA2BBE1AA}"/>
              </a:ext>
            </a:extLst>
          </p:cNvPr>
          <p:cNvSpPr/>
          <p:nvPr/>
        </p:nvSpPr>
        <p:spPr bwMode="auto">
          <a:xfrm rot="16200000">
            <a:off x="5546755" y="1184740"/>
            <a:ext cx="611537" cy="709441"/>
          </a:xfrm>
          <a:prstGeom prst="can">
            <a:avLst/>
          </a:prstGeom>
          <a:solidFill>
            <a:schemeClr val="bg1"/>
          </a:solidFill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10" name="箭头: 右弧形 9">
            <a:extLst>
              <a:ext uri="{FF2B5EF4-FFF2-40B4-BE49-F238E27FC236}">
                <a16:creationId xmlns:a16="http://schemas.microsoft.com/office/drawing/2014/main" id="{1643B51C-5004-0498-55CC-C536A3496B27}"/>
              </a:ext>
            </a:extLst>
          </p:cNvPr>
          <p:cNvSpPr/>
          <p:nvPr/>
        </p:nvSpPr>
        <p:spPr bwMode="auto">
          <a:xfrm>
            <a:off x="6456286" y="1065910"/>
            <a:ext cx="432048" cy="936104"/>
          </a:xfrm>
          <a:prstGeom prst="curvedLeftArrow">
            <a:avLst/>
          </a:prstGeom>
          <a:solidFill>
            <a:schemeClr val="bg1"/>
          </a:solidFill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黑体" pitchFamily="2" charset="-122"/>
            </a:endParaRP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CD582F3F-B63F-08EC-460D-E74AE01D78B8}"/>
              </a:ext>
            </a:extLst>
          </p:cNvPr>
          <p:cNvCxnSpPr>
            <a:cxnSpLocks/>
          </p:cNvCxnSpPr>
          <p:nvPr/>
        </p:nvCxnSpPr>
        <p:spPr bwMode="auto">
          <a:xfrm flipV="1">
            <a:off x="6294773" y="2309927"/>
            <a:ext cx="196757" cy="1222769"/>
          </a:xfrm>
          <a:prstGeom prst="straightConnector1">
            <a:avLst/>
          </a:prstGeom>
          <a:solidFill>
            <a:schemeClr val="bg1"/>
          </a:solidFill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4E55875C-C44A-4192-B862-60EBFA3C88A2}"/>
                  </a:ext>
                </a:extLst>
              </p:cNvPr>
              <p:cNvSpPr txBox="1"/>
              <p:nvPr/>
            </p:nvSpPr>
            <p:spPr>
              <a:xfrm>
                <a:off x="7536560" y="3078859"/>
                <a:ext cx="1237262" cy="4946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zh-CN" altLang="en-US" sz="1600" dirty="0"/>
                  <a:t>环境压力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𝑎𝑡𝑚</m:t>
                        </m:r>
                      </m:sub>
                    </m:sSub>
                  </m:oMath>
                </a14:m>
                <a:endParaRPr lang="en-US" altLang="zh-CN" sz="1600" dirty="0"/>
              </a:p>
              <a:p>
                <a:r>
                  <a:rPr lang="zh-CN" altLang="en-US" sz="1600" dirty="0"/>
                  <a:t>环境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</a:rPr>
                      <m:t>温度</m:t>
                    </m:r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𝑎𝑡𝑚</m:t>
                        </m:r>
                      </m:sub>
                    </m:sSub>
                  </m:oMath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4E55875C-C44A-4192-B862-60EBFA3C88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6560" y="3078859"/>
                <a:ext cx="1237262" cy="494687"/>
              </a:xfrm>
              <a:prstGeom prst="rect">
                <a:avLst/>
              </a:prstGeom>
              <a:blipFill>
                <a:blip r:embed="rId8"/>
                <a:stretch>
                  <a:fillRect l="-9852" t="-12346" r="-1478" b="-259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BDC26393-7046-5FAA-F2CB-0BAF17ACB441}"/>
                  </a:ext>
                </a:extLst>
              </p:cNvPr>
              <p:cNvSpPr txBox="1"/>
              <p:nvPr/>
            </p:nvSpPr>
            <p:spPr>
              <a:xfrm>
                <a:off x="5181726" y="4620983"/>
                <a:ext cx="1149225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zh-CN" altLang="en-US" sz="1600" dirty="0"/>
                  <a:t>出口压力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𝑠𝑚</m:t>
                        </m:r>
                      </m:sub>
                    </m:sSub>
                  </m:oMath>
                </a14:m>
                <a:endParaRPr lang="en-US" altLang="zh-CN" sz="1600" dirty="0"/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BDC26393-7046-5FAA-F2CB-0BAF17ACB4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726" y="4620983"/>
                <a:ext cx="1149225" cy="246221"/>
              </a:xfrm>
              <a:prstGeom prst="rect">
                <a:avLst/>
              </a:prstGeom>
              <a:blipFill>
                <a:blip r:embed="rId9"/>
                <a:stretch>
                  <a:fillRect l="-10582" t="-25000" r="-1058" b="-5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2C88F627-C5F5-4268-DACF-FFD89097DBDA}"/>
                  </a:ext>
                </a:extLst>
              </p:cNvPr>
              <p:cNvSpPr txBox="1"/>
              <p:nvPr/>
            </p:nvSpPr>
            <p:spPr>
              <a:xfrm>
                <a:off x="6875270" y="2048655"/>
                <a:ext cx="1683089" cy="5304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zh-CN" altLang="en-US" sz="1600" dirty="0"/>
                  <a:t>空压机转动惯量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𝑐𝑝</m:t>
                        </m:r>
                      </m:sub>
                    </m:sSub>
                  </m:oMath>
                </a14:m>
                <a:endParaRPr lang="en-US" altLang="zh-CN" sz="1600" dirty="0"/>
              </a:p>
              <a:p>
                <a:pPr algn="ctr"/>
                <a:r>
                  <a:rPr lang="zh-CN" altLang="en-US" sz="1600" dirty="0"/>
                  <a:t>空压机效率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600" i="1" smtClean="0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𝑐𝑝</m:t>
                        </m:r>
                      </m:sub>
                    </m:sSub>
                  </m:oMath>
                </a14:m>
                <a:endParaRPr lang="en-US" altLang="zh-CN" sz="1600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2C88F627-C5F5-4268-DACF-FFD89097DB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5270" y="2048655"/>
                <a:ext cx="1683089" cy="530402"/>
              </a:xfrm>
              <a:prstGeom prst="rect">
                <a:avLst/>
              </a:prstGeom>
              <a:blipFill>
                <a:blip r:embed="rId10"/>
                <a:stretch>
                  <a:fillRect l="-7609" t="-11494" r="-1449" b="-195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108287EE-3768-18AA-C152-424AE326E33F}"/>
                  </a:ext>
                </a:extLst>
              </p:cNvPr>
              <p:cNvSpPr txBox="1"/>
              <p:nvPr/>
            </p:nvSpPr>
            <p:spPr>
              <a:xfrm>
                <a:off x="4498600" y="1882323"/>
                <a:ext cx="1585947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zh-CN" altLang="en-US" sz="1600" dirty="0"/>
                  <a:t>电机转速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zh-CN" alt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𝜐</m:t>
                        </m:r>
                      </m:e>
                      <m:sub>
                        <m:r>
                          <a:rPr kumimoji="0" lang="en-US" altLang="zh-CN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𝑐𝑚</m:t>
                        </m:r>
                      </m:sub>
                    </m:sSub>
                  </m:oMath>
                </a14:m>
                <a:endParaRPr lang="en-US" altLang="zh-CN" sz="1600" dirty="0"/>
              </a:p>
              <a:p>
                <a:pPr algn="ctr"/>
                <a:r>
                  <a:rPr lang="zh-CN" altLang="en-US" sz="1600" dirty="0"/>
                  <a:t>电机常数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𝑐𝑚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endParaRPr lang="en-US" altLang="zh-CN" sz="1600" dirty="0"/>
              </a:p>
              <a:p>
                <a:pPr algn="ctr"/>
                <a:r>
                  <a:rPr lang="zh-CN" altLang="en-US" sz="1600" dirty="0"/>
                  <a:t>电机机械效率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600" i="1" smtClean="0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𝑐𝑚</m:t>
                        </m:r>
                      </m:sub>
                    </m:sSub>
                  </m:oMath>
                </a14:m>
                <a:endParaRPr lang="en-US" altLang="zh-CN" sz="1600" dirty="0"/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108287EE-3768-18AA-C152-424AE326E3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8600" y="1882323"/>
                <a:ext cx="1585947" cy="738664"/>
              </a:xfrm>
              <a:prstGeom prst="rect">
                <a:avLst/>
              </a:prstGeom>
              <a:blipFill>
                <a:blip r:embed="rId11"/>
                <a:stretch>
                  <a:fillRect l="-6923" t="-9091" b="-157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94306AE3-B691-6009-E5CB-55546A0F4667}"/>
                  </a:ext>
                </a:extLst>
              </p:cNvPr>
              <p:cNvSpPr txBox="1"/>
              <p:nvPr/>
            </p:nvSpPr>
            <p:spPr>
              <a:xfrm>
                <a:off x="507604" y="4963487"/>
                <a:ext cx="4531940" cy="6677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dirty="0">
                    <a:solidFill>
                      <a:srgbClr val="000066"/>
                    </a:solidFill>
                    <a:latin typeface="+mn-lt"/>
                    <a:ea typeface="+mn-ea"/>
                  </a:rPr>
                  <a:t>基于压比、转速，在空压机</a:t>
                </a:r>
                <a:r>
                  <a:rPr lang="en-US" altLang="zh-CN" dirty="0">
                    <a:solidFill>
                      <a:srgbClr val="000066"/>
                    </a:solidFill>
                    <a:latin typeface="+mn-lt"/>
                    <a:ea typeface="+mn-ea"/>
                  </a:rPr>
                  <a:t>MAP</a:t>
                </a:r>
                <a:r>
                  <a:rPr lang="zh-CN" altLang="en-US" dirty="0">
                    <a:solidFill>
                      <a:srgbClr val="000066"/>
                    </a:solidFill>
                    <a:latin typeface="+mn-lt"/>
                    <a:ea typeface="+mn-ea"/>
                  </a:rPr>
                  <a:t>中获得空气流量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rgbClr val="00006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0066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0066"/>
                            </a:solidFill>
                            <a:latin typeface="Cambria Math" panose="02040503050406030204" pitchFamily="18" charset="0"/>
                          </a:rPr>
                          <m:t>𝑐𝑝</m:t>
                        </m:r>
                        <m:r>
                          <a:rPr lang="en-US" altLang="zh-CN" b="0" i="1" smtClean="0">
                            <a:solidFill>
                              <a:srgbClr val="000066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solidFill>
                              <a:srgbClr val="000066"/>
                            </a:solidFill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94306AE3-B691-6009-E5CB-55546A0F46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604" y="4963487"/>
                <a:ext cx="4531940" cy="667747"/>
              </a:xfrm>
              <a:prstGeom prst="rect">
                <a:avLst/>
              </a:prstGeom>
              <a:blipFill>
                <a:blip r:embed="rId12"/>
                <a:stretch>
                  <a:fillRect l="-1075" t="-5455"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文本框 36">
            <a:extLst>
              <a:ext uri="{FF2B5EF4-FFF2-40B4-BE49-F238E27FC236}">
                <a16:creationId xmlns:a16="http://schemas.microsoft.com/office/drawing/2014/main" id="{02439F88-1D86-A8A0-E9BA-2AF8B693A14E}"/>
              </a:ext>
            </a:extLst>
          </p:cNvPr>
          <p:cNvSpPr txBox="1"/>
          <p:nvPr/>
        </p:nvSpPr>
        <p:spPr>
          <a:xfrm>
            <a:off x="467544" y="5733256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氢气供给系统中循环泵建模理论与空压机建模理论基本一致。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31097814"/>
      </p:ext>
    </p:extLst>
  </p:cSld>
  <p:clrMapOvr>
    <a:masterClrMapping/>
  </p:clrMapOvr>
  <p:transition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流程图: 磁盘 44">
            <a:extLst>
              <a:ext uri="{FF2B5EF4-FFF2-40B4-BE49-F238E27FC236}">
                <a16:creationId xmlns:a16="http://schemas.microsoft.com/office/drawing/2014/main" id="{ED7DF457-33F8-CAE7-AEFA-653A02833918}"/>
              </a:ext>
            </a:extLst>
          </p:cNvPr>
          <p:cNvSpPr/>
          <p:nvPr/>
        </p:nvSpPr>
        <p:spPr bwMode="auto">
          <a:xfrm>
            <a:off x="6120245" y="5466204"/>
            <a:ext cx="393600" cy="381294"/>
          </a:xfrm>
          <a:prstGeom prst="flowChartMagneticDisk">
            <a:avLst/>
          </a:prstGeom>
          <a:solidFill>
            <a:schemeClr val="bg1"/>
          </a:solidFill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46" name="流程图: 磁盘 45">
            <a:extLst>
              <a:ext uri="{FF2B5EF4-FFF2-40B4-BE49-F238E27FC236}">
                <a16:creationId xmlns:a16="http://schemas.microsoft.com/office/drawing/2014/main" id="{F746A8FB-A7AD-DD04-A8E1-9C1966AF6BAD}"/>
              </a:ext>
            </a:extLst>
          </p:cNvPr>
          <p:cNvSpPr/>
          <p:nvPr/>
        </p:nvSpPr>
        <p:spPr bwMode="auto">
          <a:xfrm>
            <a:off x="6602590" y="5466204"/>
            <a:ext cx="393600" cy="381294"/>
          </a:xfrm>
          <a:prstGeom prst="flowChartMagneticDisk">
            <a:avLst/>
          </a:prstGeom>
          <a:solidFill>
            <a:schemeClr val="bg1"/>
          </a:solidFill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47" name="流程图: 磁盘 46">
            <a:extLst>
              <a:ext uri="{FF2B5EF4-FFF2-40B4-BE49-F238E27FC236}">
                <a16:creationId xmlns:a16="http://schemas.microsoft.com/office/drawing/2014/main" id="{ECE6E789-1BD0-AC01-FCCD-6D6A4E1FA8A9}"/>
              </a:ext>
            </a:extLst>
          </p:cNvPr>
          <p:cNvSpPr/>
          <p:nvPr/>
        </p:nvSpPr>
        <p:spPr bwMode="auto">
          <a:xfrm>
            <a:off x="6996190" y="5263777"/>
            <a:ext cx="393600" cy="381294"/>
          </a:xfrm>
          <a:prstGeom prst="flowChartMagneticDisk">
            <a:avLst/>
          </a:prstGeom>
          <a:solidFill>
            <a:schemeClr val="bg1"/>
          </a:solidFill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38" name="平行四边形 37">
            <a:extLst>
              <a:ext uri="{FF2B5EF4-FFF2-40B4-BE49-F238E27FC236}">
                <a16:creationId xmlns:a16="http://schemas.microsoft.com/office/drawing/2014/main" id="{04A238A1-9912-7870-F521-55A2F3D70875}"/>
              </a:ext>
            </a:extLst>
          </p:cNvPr>
          <p:cNvSpPr/>
          <p:nvPr/>
        </p:nvSpPr>
        <p:spPr bwMode="auto">
          <a:xfrm>
            <a:off x="5569815" y="5181403"/>
            <a:ext cx="2282545" cy="504056"/>
          </a:xfrm>
          <a:prstGeom prst="parallelogram">
            <a:avLst>
              <a:gd name="adj" fmla="val 193492"/>
            </a:avLst>
          </a:prstGeom>
          <a:solidFill>
            <a:schemeClr val="bg1"/>
          </a:solidFill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42" name="流程图: 磁盘 41">
            <a:extLst>
              <a:ext uri="{FF2B5EF4-FFF2-40B4-BE49-F238E27FC236}">
                <a16:creationId xmlns:a16="http://schemas.microsoft.com/office/drawing/2014/main" id="{915C0BE3-E9A5-4C31-0792-3FAC3A7E5735}"/>
              </a:ext>
            </a:extLst>
          </p:cNvPr>
          <p:cNvSpPr/>
          <p:nvPr/>
        </p:nvSpPr>
        <p:spPr bwMode="auto">
          <a:xfrm>
            <a:off x="6110358" y="5248972"/>
            <a:ext cx="393600" cy="381294"/>
          </a:xfrm>
          <a:prstGeom prst="flowChartMagneticDisk">
            <a:avLst/>
          </a:prstGeom>
          <a:solidFill>
            <a:schemeClr val="bg1"/>
          </a:solidFill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43" name="流程图: 磁盘 42">
            <a:extLst>
              <a:ext uri="{FF2B5EF4-FFF2-40B4-BE49-F238E27FC236}">
                <a16:creationId xmlns:a16="http://schemas.microsoft.com/office/drawing/2014/main" id="{C2F325F8-D082-0E45-575B-98EC3AAA5348}"/>
              </a:ext>
            </a:extLst>
          </p:cNvPr>
          <p:cNvSpPr/>
          <p:nvPr/>
        </p:nvSpPr>
        <p:spPr bwMode="auto">
          <a:xfrm>
            <a:off x="6592703" y="5248972"/>
            <a:ext cx="393600" cy="381294"/>
          </a:xfrm>
          <a:prstGeom prst="flowChartMagneticDisk">
            <a:avLst/>
          </a:prstGeom>
          <a:solidFill>
            <a:schemeClr val="bg1"/>
          </a:solidFill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44" name="流程图: 磁盘 43">
            <a:extLst>
              <a:ext uri="{FF2B5EF4-FFF2-40B4-BE49-F238E27FC236}">
                <a16:creationId xmlns:a16="http://schemas.microsoft.com/office/drawing/2014/main" id="{1728915F-4C3F-EBE2-A312-4FD1890ACFF0}"/>
              </a:ext>
            </a:extLst>
          </p:cNvPr>
          <p:cNvSpPr/>
          <p:nvPr/>
        </p:nvSpPr>
        <p:spPr bwMode="auto">
          <a:xfrm>
            <a:off x="6986303" y="5046545"/>
            <a:ext cx="393600" cy="381294"/>
          </a:xfrm>
          <a:prstGeom prst="flowChartMagneticDisk">
            <a:avLst/>
          </a:prstGeom>
          <a:solidFill>
            <a:schemeClr val="bg1"/>
          </a:solidFill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36" name="平行四边形 35">
            <a:extLst>
              <a:ext uri="{FF2B5EF4-FFF2-40B4-BE49-F238E27FC236}">
                <a16:creationId xmlns:a16="http://schemas.microsoft.com/office/drawing/2014/main" id="{A06F9A2A-CB25-8CF5-286D-EB2744B86F65}"/>
              </a:ext>
            </a:extLst>
          </p:cNvPr>
          <p:cNvSpPr/>
          <p:nvPr/>
        </p:nvSpPr>
        <p:spPr bwMode="auto">
          <a:xfrm>
            <a:off x="5571279" y="4903737"/>
            <a:ext cx="2282545" cy="504056"/>
          </a:xfrm>
          <a:prstGeom prst="parallelogram">
            <a:avLst>
              <a:gd name="adj" fmla="val 193492"/>
            </a:avLst>
          </a:prstGeom>
          <a:solidFill>
            <a:schemeClr val="bg1"/>
          </a:solidFill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39" name="流程图: 磁盘 38">
            <a:extLst>
              <a:ext uri="{FF2B5EF4-FFF2-40B4-BE49-F238E27FC236}">
                <a16:creationId xmlns:a16="http://schemas.microsoft.com/office/drawing/2014/main" id="{B47F2C0E-EAB3-3825-F2AD-47D2D27B82F4}"/>
              </a:ext>
            </a:extLst>
          </p:cNvPr>
          <p:cNvSpPr/>
          <p:nvPr/>
        </p:nvSpPr>
        <p:spPr bwMode="auto">
          <a:xfrm>
            <a:off x="6120245" y="4962148"/>
            <a:ext cx="393600" cy="381294"/>
          </a:xfrm>
          <a:prstGeom prst="flowChartMagneticDisk">
            <a:avLst/>
          </a:prstGeom>
          <a:solidFill>
            <a:schemeClr val="bg1"/>
          </a:solidFill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40" name="流程图: 磁盘 39">
            <a:extLst>
              <a:ext uri="{FF2B5EF4-FFF2-40B4-BE49-F238E27FC236}">
                <a16:creationId xmlns:a16="http://schemas.microsoft.com/office/drawing/2014/main" id="{3B7E8B6F-9554-7B71-0940-4164CE71F888}"/>
              </a:ext>
            </a:extLst>
          </p:cNvPr>
          <p:cNvSpPr/>
          <p:nvPr/>
        </p:nvSpPr>
        <p:spPr bwMode="auto">
          <a:xfrm>
            <a:off x="6602590" y="4962148"/>
            <a:ext cx="393600" cy="381294"/>
          </a:xfrm>
          <a:prstGeom prst="flowChartMagneticDisk">
            <a:avLst/>
          </a:prstGeom>
          <a:solidFill>
            <a:schemeClr val="bg1"/>
          </a:solidFill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41" name="流程图: 磁盘 40">
            <a:extLst>
              <a:ext uri="{FF2B5EF4-FFF2-40B4-BE49-F238E27FC236}">
                <a16:creationId xmlns:a16="http://schemas.microsoft.com/office/drawing/2014/main" id="{0E9078A5-5E77-E666-1A08-DFBFDFBA333E}"/>
              </a:ext>
            </a:extLst>
          </p:cNvPr>
          <p:cNvSpPr/>
          <p:nvPr/>
        </p:nvSpPr>
        <p:spPr bwMode="auto">
          <a:xfrm>
            <a:off x="6996190" y="4759721"/>
            <a:ext cx="393600" cy="381294"/>
          </a:xfrm>
          <a:prstGeom prst="flowChartMagneticDisk">
            <a:avLst/>
          </a:prstGeom>
          <a:solidFill>
            <a:schemeClr val="bg1"/>
          </a:solidFill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7A3B994-5CE1-04E1-79F7-C48C40012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三、燃料电池系统建模</a:t>
            </a:r>
          </a:p>
        </p:txBody>
      </p:sp>
      <p:sp>
        <p:nvSpPr>
          <p:cNvPr id="4" name="内容占位符 1">
            <a:extLst>
              <a:ext uri="{FF2B5EF4-FFF2-40B4-BE49-F238E27FC236}">
                <a16:creationId xmlns:a16="http://schemas.microsoft.com/office/drawing/2014/main" id="{D20FB510-1B48-8C77-40B7-181D3D27A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1196752"/>
            <a:ext cx="4248472" cy="794064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2.</a:t>
            </a:r>
            <a:r>
              <a:rPr lang="zh-CN" altLang="en-US" dirty="0"/>
              <a:t> 空气供给系统模型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1800" b="0" dirty="0"/>
              <a:t>2.2 </a:t>
            </a:r>
            <a:r>
              <a:rPr lang="zh-CN" altLang="en-US" sz="1800" b="0" dirty="0"/>
              <a:t>中冷器模型</a:t>
            </a:r>
            <a:endParaRPr lang="en-US" altLang="zh-CN" sz="1800" b="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8279D75-1336-FDD2-E867-D473DD182AD2}"/>
              </a:ext>
            </a:extLst>
          </p:cNvPr>
          <p:cNvSpPr txBox="1"/>
          <p:nvPr/>
        </p:nvSpPr>
        <p:spPr>
          <a:xfrm>
            <a:off x="111837" y="2043737"/>
            <a:ext cx="77768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0066"/>
                </a:solidFill>
                <a:latin typeface="+mn-lt"/>
                <a:ea typeface="+mn-ea"/>
              </a:rPr>
              <a:t>实际传热量根据增压空气失去的热量计算</a:t>
            </a:r>
            <a:r>
              <a:rPr lang="en-US" altLang="zh-CN" dirty="0">
                <a:solidFill>
                  <a:srgbClr val="000066"/>
                </a:solidFill>
                <a:latin typeface="+mn-lt"/>
                <a:ea typeface="+mn-ea"/>
              </a:rPr>
              <a:t>or</a:t>
            </a:r>
            <a:r>
              <a:rPr lang="zh-CN" altLang="en-US" dirty="0">
                <a:solidFill>
                  <a:srgbClr val="000066"/>
                </a:solidFill>
                <a:latin typeface="+mn-lt"/>
                <a:ea typeface="+mn-ea"/>
              </a:rPr>
              <a:t>冷却液获得的热量计算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21505C1-3374-4A68-C82F-873BE13305E4}"/>
              </a:ext>
            </a:extLst>
          </p:cNvPr>
          <p:cNvSpPr txBox="1"/>
          <p:nvPr/>
        </p:nvSpPr>
        <p:spPr>
          <a:xfrm>
            <a:off x="111837" y="2866241"/>
            <a:ext cx="6391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solidFill>
                  <a:srgbClr val="000066"/>
                </a:solidFill>
                <a:latin typeface="+mn-lt"/>
                <a:ea typeface="+mn-ea"/>
              </a:defRPr>
            </a:lvl1pPr>
          </a:lstStyle>
          <a:p>
            <a:r>
              <a:rPr lang="zh-CN" altLang="en-US" dirty="0"/>
              <a:t>理论最大传热量（增压空气出口温度降低至冷却液入口温度）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8FDDD5D-A2B6-9ADE-F3EA-FAA412F730FA}"/>
                  </a:ext>
                </a:extLst>
              </p:cNvPr>
              <p:cNvSpPr txBox="1"/>
              <p:nvPr/>
            </p:nvSpPr>
            <p:spPr>
              <a:xfrm>
                <a:off x="107504" y="2462335"/>
                <a:ext cx="4468830" cy="2646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𝑎𝑐𝑡𝑢𝑎𝑙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d>
                        <m:d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8FDDD5D-A2B6-9ADE-F3EA-FAA412F730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2462335"/>
                <a:ext cx="4468830" cy="264643"/>
              </a:xfrm>
              <a:prstGeom prst="rect">
                <a:avLst/>
              </a:prstGeom>
              <a:blipFill>
                <a:blip r:embed="rId3"/>
                <a:stretch>
                  <a:fillRect b="-232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平行四边形 5">
            <a:extLst>
              <a:ext uri="{FF2B5EF4-FFF2-40B4-BE49-F238E27FC236}">
                <a16:creationId xmlns:a16="http://schemas.microsoft.com/office/drawing/2014/main" id="{9416A63E-714B-CD8A-25D0-24D1E26652CF}"/>
              </a:ext>
            </a:extLst>
          </p:cNvPr>
          <p:cNvSpPr/>
          <p:nvPr/>
        </p:nvSpPr>
        <p:spPr bwMode="auto">
          <a:xfrm>
            <a:off x="5569815" y="4615705"/>
            <a:ext cx="2282545" cy="504056"/>
          </a:xfrm>
          <a:prstGeom prst="parallelogram">
            <a:avLst>
              <a:gd name="adj" fmla="val 193492"/>
            </a:avLst>
          </a:prstGeom>
          <a:solidFill>
            <a:schemeClr val="bg1"/>
          </a:solidFill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8" name="流程图: 磁盘 7">
            <a:extLst>
              <a:ext uri="{FF2B5EF4-FFF2-40B4-BE49-F238E27FC236}">
                <a16:creationId xmlns:a16="http://schemas.microsoft.com/office/drawing/2014/main" id="{73079948-48FE-CAB8-097F-CDD34B946C93}"/>
              </a:ext>
            </a:extLst>
          </p:cNvPr>
          <p:cNvSpPr/>
          <p:nvPr/>
        </p:nvSpPr>
        <p:spPr bwMode="auto">
          <a:xfrm>
            <a:off x="6112319" y="4882483"/>
            <a:ext cx="393600" cy="165270"/>
          </a:xfrm>
          <a:prstGeom prst="flowChartMagneticDisk">
            <a:avLst/>
          </a:prstGeom>
          <a:solidFill>
            <a:schemeClr val="bg1"/>
          </a:solidFill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32" name="流程图: 磁盘 31">
            <a:extLst>
              <a:ext uri="{FF2B5EF4-FFF2-40B4-BE49-F238E27FC236}">
                <a16:creationId xmlns:a16="http://schemas.microsoft.com/office/drawing/2014/main" id="{17B6A1D9-9FA9-F4EA-4796-8E5F97FAF8A6}"/>
              </a:ext>
            </a:extLst>
          </p:cNvPr>
          <p:cNvSpPr/>
          <p:nvPr/>
        </p:nvSpPr>
        <p:spPr bwMode="auto">
          <a:xfrm>
            <a:off x="6594664" y="4882483"/>
            <a:ext cx="393600" cy="165270"/>
          </a:xfrm>
          <a:prstGeom prst="flowChartMagneticDisk">
            <a:avLst/>
          </a:prstGeom>
          <a:solidFill>
            <a:schemeClr val="bg1"/>
          </a:solidFill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33" name="流程图: 磁盘 32">
            <a:extLst>
              <a:ext uri="{FF2B5EF4-FFF2-40B4-BE49-F238E27FC236}">
                <a16:creationId xmlns:a16="http://schemas.microsoft.com/office/drawing/2014/main" id="{3E51F443-1874-DCCE-C2E7-1E56F8B74D7B}"/>
              </a:ext>
            </a:extLst>
          </p:cNvPr>
          <p:cNvSpPr/>
          <p:nvPr/>
        </p:nvSpPr>
        <p:spPr bwMode="auto">
          <a:xfrm>
            <a:off x="6505919" y="4680056"/>
            <a:ext cx="393600" cy="165270"/>
          </a:xfrm>
          <a:prstGeom prst="flowChartMagneticDisk">
            <a:avLst/>
          </a:prstGeom>
          <a:solidFill>
            <a:schemeClr val="bg1"/>
          </a:solidFill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34" name="流程图: 磁盘 33">
            <a:extLst>
              <a:ext uri="{FF2B5EF4-FFF2-40B4-BE49-F238E27FC236}">
                <a16:creationId xmlns:a16="http://schemas.microsoft.com/office/drawing/2014/main" id="{AFB69F76-3D82-B620-9556-D37D610DE053}"/>
              </a:ext>
            </a:extLst>
          </p:cNvPr>
          <p:cNvSpPr/>
          <p:nvPr/>
        </p:nvSpPr>
        <p:spPr bwMode="auto">
          <a:xfrm>
            <a:off x="6988264" y="4680056"/>
            <a:ext cx="393600" cy="165270"/>
          </a:xfrm>
          <a:prstGeom prst="flowChartMagneticDisk">
            <a:avLst/>
          </a:prstGeom>
          <a:solidFill>
            <a:schemeClr val="bg1"/>
          </a:solidFill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48" name="箭头: 右 47">
            <a:extLst>
              <a:ext uri="{FF2B5EF4-FFF2-40B4-BE49-F238E27FC236}">
                <a16:creationId xmlns:a16="http://schemas.microsoft.com/office/drawing/2014/main" id="{64CD380F-B4D9-6998-7F23-A2BBCF12FE2B}"/>
              </a:ext>
            </a:extLst>
          </p:cNvPr>
          <p:cNvSpPr/>
          <p:nvPr/>
        </p:nvSpPr>
        <p:spPr bwMode="auto">
          <a:xfrm>
            <a:off x="4921324" y="5103573"/>
            <a:ext cx="423498" cy="290798"/>
          </a:xfrm>
          <a:prstGeom prst="rightArrow">
            <a:avLst/>
          </a:prstGeom>
          <a:solidFill>
            <a:srgbClr val="FF0000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49" name="箭头: 右 48">
            <a:extLst>
              <a:ext uri="{FF2B5EF4-FFF2-40B4-BE49-F238E27FC236}">
                <a16:creationId xmlns:a16="http://schemas.microsoft.com/office/drawing/2014/main" id="{64914AA0-F4EA-9ADB-21DB-CC7F10BDC1DA}"/>
              </a:ext>
            </a:extLst>
          </p:cNvPr>
          <p:cNvSpPr/>
          <p:nvPr/>
        </p:nvSpPr>
        <p:spPr bwMode="auto">
          <a:xfrm>
            <a:off x="7995769" y="5052750"/>
            <a:ext cx="423498" cy="290798"/>
          </a:xfrm>
          <a:prstGeom prst="rightArrow">
            <a:avLst/>
          </a:prstGeom>
          <a:solidFill>
            <a:srgbClr val="FF0000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50" name="箭头: 右 49">
            <a:extLst>
              <a:ext uri="{FF2B5EF4-FFF2-40B4-BE49-F238E27FC236}">
                <a16:creationId xmlns:a16="http://schemas.microsoft.com/office/drawing/2014/main" id="{3CFA21D9-175B-D26D-8178-F2EAB63A6B8D}"/>
              </a:ext>
            </a:extLst>
          </p:cNvPr>
          <p:cNvSpPr/>
          <p:nvPr/>
        </p:nvSpPr>
        <p:spPr bwMode="auto">
          <a:xfrm rot="5400000">
            <a:off x="6595961" y="4233787"/>
            <a:ext cx="316318" cy="290798"/>
          </a:xfrm>
          <a:prstGeom prst="rightArrow">
            <a:avLst/>
          </a:prstGeom>
          <a:solidFill>
            <a:srgbClr val="00B0F0"/>
          </a:solidFill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51" name="箭头: 右 50">
            <a:extLst>
              <a:ext uri="{FF2B5EF4-FFF2-40B4-BE49-F238E27FC236}">
                <a16:creationId xmlns:a16="http://schemas.microsoft.com/office/drawing/2014/main" id="{0B4D62E5-7D8E-F44E-DDFA-A4B7B17BE595}"/>
              </a:ext>
            </a:extLst>
          </p:cNvPr>
          <p:cNvSpPr/>
          <p:nvPr/>
        </p:nvSpPr>
        <p:spPr bwMode="auto">
          <a:xfrm rot="5400000">
            <a:off x="6652808" y="5945271"/>
            <a:ext cx="293163" cy="290798"/>
          </a:xfrm>
          <a:prstGeom prst="rightArrow">
            <a:avLst/>
          </a:prstGeom>
          <a:solidFill>
            <a:srgbClr val="00B0F0"/>
          </a:solidFill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黑体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ABF6E091-2B79-CCDA-CD12-320AE0D1F9CD}"/>
                  </a:ext>
                </a:extLst>
              </p:cNvPr>
              <p:cNvSpPr txBox="1"/>
              <p:nvPr/>
            </p:nvSpPr>
            <p:spPr>
              <a:xfrm>
                <a:off x="4185167" y="4442799"/>
                <a:ext cx="2143716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600" dirty="0"/>
                  <a:t>空气入口温度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1600" dirty="0"/>
              </a:p>
              <a:p>
                <a:pPr algn="ctr"/>
                <a:r>
                  <a:rPr lang="zh-CN" altLang="en-US" sz="1600" dirty="0"/>
                  <a:t>空气流量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ABF6E091-2B79-CCDA-CD12-320AE0D1F9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5167" y="4442799"/>
                <a:ext cx="2143716" cy="584775"/>
              </a:xfrm>
              <a:prstGeom prst="rect">
                <a:avLst/>
              </a:prstGeom>
              <a:blipFill>
                <a:blip r:embed="rId4"/>
                <a:stretch>
                  <a:fillRect t="-3125"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9E9CFE40-90EC-A952-8CE1-3BCC091A5F11}"/>
                  </a:ext>
                </a:extLst>
              </p:cNvPr>
              <p:cNvSpPr txBox="1"/>
              <p:nvPr/>
            </p:nvSpPr>
            <p:spPr>
              <a:xfrm>
                <a:off x="138394" y="3224444"/>
                <a:ext cx="2532692" cy="3575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d>
                        <m:d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9E9CFE40-90EC-A952-8CE1-3BCC091A5F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394" y="3224444"/>
                <a:ext cx="2532692" cy="357534"/>
              </a:xfrm>
              <a:prstGeom prst="rect">
                <a:avLst/>
              </a:prstGeom>
              <a:blipFill>
                <a:blip r:embed="rId5"/>
                <a:stretch>
                  <a:fillRect b="-16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文本框 53">
            <a:extLst>
              <a:ext uri="{FF2B5EF4-FFF2-40B4-BE49-F238E27FC236}">
                <a16:creationId xmlns:a16="http://schemas.microsoft.com/office/drawing/2014/main" id="{6C7D8BAC-9B27-128D-965D-7B59402B5D45}"/>
              </a:ext>
            </a:extLst>
          </p:cNvPr>
          <p:cNvSpPr txBox="1"/>
          <p:nvPr/>
        </p:nvSpPr>
        <p:spPr>
          <a:xfrm>
            <a:off x="138394" y="3654520"/>
            <a:ext cx="6391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solidFill>
                  <a:srgbClr val="000066"/>
                </a:solidFill>
                <a:latin typeface="+mn-lt"/>
                <a:ea typeface="+mn-ea"/>
              </a:defRPr>
            </a:lvl1pPr>
          </a:lstStyle>
          <a:p>
            <a:r>
              <a:rPr lang="zh-CN" altLang="en-US" dirty="0"/>
              <a:t>热效率：实际传热量与理论最大传热量之比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76B0B5B9-F33B-5913-ED05-D887A01E6962}"/>
                  </a:ext>
                </a:extLst>
              </p:cNvPr>
              <p:cNvSpPr txBox="1"/>
              <p:nvPr/>
            </p:nvSpPr>
            <p:spPr>
              <a:xfrm>
                <a:off x="138394" y="4028699"/>
                <a:ext cx="3945118" cy="5713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600" i="1" smtClean="0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=1−</m:t>
                      </m:r>
                      <m:r>
                        <m:rPr>
                          <m:sty m:val="p"/>
                        </m:rPr>
                        <a:rPr lang="en-US" altLang="zh-CN" sz="1600" b="0" i="0" smtClean="0"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⁡[</m:t>
                      </m:r>
                      <m:f>
                        <m:f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1600" b="0" i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</a:rPr>
                                        <m:t>𝑇𝑈</m:t>
                                      </m:r>
                                    </m:sub>
                                    <m:sup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</a:rPr>
                                        <m:t>0.78</m:t>
                                      </m:r>
                                    </m:sup>
                                  </m:sSubSup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</m:d>
                            </m:e>
                          </m:func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sSubSup>
                            <m:sSubSup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𝑇𝑈</m:t>
                              </m:r>
                            </m:sub>
                            <m: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sup>
                          </m:sSub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76B0B5B9-F33B-5913-ED05-D887A01E69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394" y="4028699"/>
                <a:ext cx="3945118" cy="5713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B7E3432C-E5B0-6920-5383-56C8E6371E48}"/>
                  </a:ext>
                </a:extLst>
              </p:cNvPr>
              <p:cNvSpPr txBox="1"/>
              <p:nvPr/>
            </p:nvSpPr>
            <p:spPr>
              <a:xfrm>
                <a:off x="7235496" y="5377314"/>
                <a:ext cx="214371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600" dirty="0"/>
                  <a:t>空气出口温度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zh-CN" sz="1600" dirty="0"/>
              </a:p>
            </p:txBody>
          </p:sp>
        </mc:Choice>
        <mc:Fallback xmlns="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B7E3432C-E5B0-6920-5383-56C8E6371E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5496" y="5377314"/>
                <a:ext cx="2143716" cy="338554"/>
              </a:xfrm>
              <a:prstGeom prst="rect">
                <a:avLst/>
              </a:prstGeom>
              <a:blipFill>
                <a:blip r:embed="rId7"/>
                <a:stretch>
                  <a:fillRect t="-5357"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A930127F-4456-BB55-BFE6-6ED693A73E3F}"/>
                  </a:ext>
                </a:extLst>
              </p:cNvPr>
              <p:cNvSpPr txBox="1"/>
              <p:nvPr/>
            </p:nvSpPr>
            <p:spPr>
              <a:xfrm>
                <a:off x="6711087" y="4031263"/>
                <a:ext cx="2143716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600" dirty="0"/>
                  <a:t>冷却液入口温度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1600" dirty="0"/>
              </a:p>
              <a:p>
                <a:pPr algn="ctr"/>
                <a:r>
                  <a:rPr lang="zh-CN" altLang="en-US" sz="1600" dirty="0"/>
                  <a:t>冷却液流量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A930127F-4456-BB55-BFE6-6ED693A73E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1087" y="4031263"/>
                <a:ext cx="2143716" cy="584775"/>
              </a:xfrm>
              <a:prstGeom prst="rect">
                <a:avLst/>
              </a:prstGeom>
              <a:blipFill>
                <a:blip r:embed="rId8"/>
                <a:stretch>
                  <a:fillRect t="-3125"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A3509B70-72BE-BCB3-DF73-27119EAC3C89}"/>
                  </a:ext>
                </a:extLst>
              </p:cNvPr>
              <p:cNvSpPr txBox="1"/>
              <p:nvPr/>
            </p:nvSpPr>
            <p:spPr>
              <a:xfrm>
                <a:off x="6899519" y="5905909"/>
                <a:ext cx="194137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600" dirty="0"/>
                  <a:t>冷却液出口温度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zh-CN" sz="1600" dirty="0"/>
              </a:p>
            </p:txBody>
          </p:sp>
        </mc:Choice>
        <mc:Fallback xmlns="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A3509B70-72BE-BCB3-DF73-27119EAC3C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9519" y="5905909"/>
                <a:ext cx="1941377" cy="338554"/>
              </a:xfrm>
              <a:prstGeom prst="rect">
                <a:avLst/>
              </a:prstGeom>
              <a:blipFill>
                <a:blip r:embed="rId9"/>
                <a:stretch>
                  <a:fillRect l="-314" t="-5455" b="-2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3FD9EC4A-1407-9007-5FD9-AF94B29F15EB}"/>
                  </a:ext>
                </a:extLst>
              </p:cNvPr>
              <p:cNvSpPr txBox="1"/>
              <p:nvPr/>
            </p:nvSpPr>
            <p:spPr>
              <a:xfrm>
                <a:off x="95034" y="4754723"/>
                <a:ext cx="448930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rgbClr val="000066"/>
                    </a:solidFill>
                    <a:latin typeface="+mn-lt"/>
                    <a:ea typeface="+mn-ea"/>
                  </a:defRPr>
                </a:lvl1pPr>
              </a:lstStyle>
              <a:p>
                <a:pPr algn="ctr"/>
                <a:r>
                  <a:rPr lang="zh-CN" altLang="en-US" sz="1800" dirty="0"/>
                  <a:t>传热单元数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𝑇𝑈</m:t>
                        </m:r>
                      </m:sub>
                    </m:sSub>
                  </m:oMath>
                </a14:m>
                <a:r>
                  <a:rPr lang="zh-CN" altLang="en-US" sz="1800" dirty="0"/>
                  <a:t>由传热系数和传热面积决定</a:t>
                </a:r>
                <a:endParaRPr lang="en-US" altLang="zh-CN" sz="1800" dirty="0"/>
              </a:p>
            </p:txBody>
          </p:sp>
        </mc:Choice>
        <mc:Fallback xmlns="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3FD9EC4A-1407-9007-5FD9-AF94B29F15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34" y="4754723"/>
                <a:ext cx="4489301" cy="369332"/>
              </a:xfrm>
              <a:prstGeom prst="rect">
                <a:avLst/>
              </a:prstGeom>
              <a:blipFill>
                <a:blip r:embed="rId10"/>
                <a:stretch>
                  <a:fillRect l="-1223" t="-9836" r="-951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8B6BF683-6675-6FC7-F523-7852099A45CC}"/>
                  </a:ext>
                </a:extLst>
              </p:cNvPr>
              <p:cNvSpPr txBox="1"/>
              <p:nvPr/>
            </p:nvSpPr>
            <p:spPr>
              <a:xfrm>
                <a:off x="138058" y="5170629"/>
                <a:ext cx="1312154" cy="5312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𝑇𝑈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𝑇𝐶</m:t>
                              </m:r>
                            </m:sub>
                          </m:s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8B6BF683-6675-6FC7-F523-7852099A45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058" y="5170629"/>
                <a:ext cx="1312154" cy="53123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19D83C55-12BD-B8A7-7877-0B228B703067}"/>
                  </a:ext>
                </a:extLst>
              </p:cNvPr>
              <p:cNvSpPr txBox="1"/>
              <p:nvPr/>
            </p:nvSpPr>
            <p:spPr>
              <a:xfrm>
                <a:off x="1725718" y="5164410"/>
                <a:ext cx="1089401" cy="5374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19D83C55-12BD-B8A7-7877-0B228B7030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5718" y="5164410"/>
                <a:ext cx="1089401" cy="53745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ED5E9117-EAA3-3CB4-E2CE-827D02C48FC4}"/>
                  </a:ext>
                </a:extLst>
              </p:cNvPr>
              <p:cNvSpPr txBox="1"/>
              <p:nvPr/>
            </p:nvSpPr>
            <p:spPr>
              <a:xfrm>
                <a:off x="4496029" y="5779555"/>
                <a:ext cx="1579843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600" dirty="0"/>
                  <a:t>传热系数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𝑇𝐶</m:t>
                        </m:r>
                      </m:sub>
                    </m:sSub>
                  </m:oMath>
                </a14:m>
                <a:endParaRPr lang="en-US" altLang="zh-CN" sz="1600" dirty="0"/>
              </a:p>
              <a:p>
                <a:pPr algn="ctr"/>
                <a:r>
                  <a:rPr lang="zh-CN" altLang="en-US" sz="1600" dirty="0"/>
                  <a:t>有效传热面积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altLang="zh-CN" sz="1600" dirty="0"/>
              </a:p>
              <a:p>
                <a:pPr algn="ctr"/>
                <a:r>
                  <a:rPr lang="zh-CN" altLang="en-US" sz="1600" dirty="0"/>
                  <a:t>阻力系数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altLang="zh-CN" sz="1600" dirty="0"/>
              </a:p>
            </p:txBody>
          </p:sp>
        </mc:Choice>
        <mc:Fallback xmlns="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ED5E9117-EAA3-3CB4-E2CE-827D02C48F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6029" y="5779555"/>
                <a:ext cx="1579843" cy="830997"/>
              </a:xfrm>
              <a:prstGeom prst="rect">
                <a:avLst/>
              </a:prstGeom>
              <a:blipFill>
                <a:blip r:embed="rId13"/>
                <a:stretch>
                  <a:fillRect l="-386" t="-2206" b="-88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文本框 62">
            <a:extLst>
              <a:ext uri="{FF2B5EF4-FFF2-40B4-BE49-F238E27FC236}">
                <a16:creationId xmlns:a16="http://schemas.microsoft.com/office/drawing/2014/main" id="{40DEDDDF-93C3-DA16-C0D9-EC145BB3BC59}"/>
              </a:ext>
            </a:extLst>
          </p:cNvPr>
          <p:cNvSpPr txBox="1"/>
          <p:nvPr/>
        </p:nvSpPr>
        <p:spPr>
          <a:xfrm>
            <a:off x="95035" y="5754127"/>
            <a:ext cx="23167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solidFill>
                  <a:srgbClr val="000066"/>
                </a:solidFill>
                <a:latin typeface="+mn-lt"/>
                <a:ea typeface="+mn-ea"/>
              </a:defRPr>
            </a:lvl1pPr>
          </a:lstStyle>
          <a:p>
            <a:pPr algn="ctr"/>
            <a:r>
              <a:rPr lang="zh-CN" altLang="en-US" sz="1800" dirty="0"/>
              <a:t>增压空气侧压力降为</a:t>
            </a:r>
            <a:endParaRPr lang="en-US" altLang="zh-CN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48A245F1-3637-065B-6842-833A0C86D9EE}"/>
                  </a:ext>
                </a:extLst>
              </p:cNvPr>
              <p:cNvSpPr txBox="1"/>
              <p:nvPr/>
            </p:nvSpPr>
            <p:spPr>
              <a:xfrm>
                <a:off x="138058" y="6175721"/>
                <a:ext cx="1362809" cy="5627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600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  <m: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48A245F1-3637-065B-6842-833A0C86D9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058" y="6175721"/>
                <a:ext cx="1362809" cy="56271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4033166"/>
      </p:ext>
    </p:extLst>
  </p:cSld>
  <p:clrMapOvr>
    <a:masterClrMapping/>
  </p:clrMapOvr>
  <p:transition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7A3B994-5CE1-04E1-79F7-C48C40012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三、燃料电池系统建模</a:t>
            </a:r>
          </a:p>
        </p:txBody>
      </p:sp>
      <p:sp>
        <p:nvSpPr>
          <p:cNvPr id="4" name="内容占位符 1">
            <a:extLst>
              <a:ext uri="{FF2B5EF4-FFF2-40B4-BE49-F238E27FC236}">
                <a16:creationId xmlns:a16="http://schemas.microsoft.com/office/drawing/2014/main" id="{D20FB510-1B48-8C77-40B7-181D3D27A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1196752"/>
            <a:ext cx="4680520" cy="794064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2.</a:t>
            </a:r>
            <a:r>
              <a:rPr lang="zh-CN" altLang="en-US" dirty="0"/>
              <a:t> 空气供给系统模型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1800" b="0" dirty="0"/>
              <a:t>2.3 </a:t>
            </a:r>
            <a:r>
              <a:rPr lang="zh-CN" altLang="en-US" sz="1800" b="0" dirty="0"/>
              <a:t>气</a:t>
            </a:r>
            <a:r>
              <a:rPr lang="en-US" altLang="zh-CN" sz="1800" b="0" dirty="0"/>
              <a:t>/</a:t>
            </a:r>
            <a:r>
              <a:rPr lang="zh-CN" altLang="en-US" sz="1800" b="0" dirty="0"/>
              <a:t>气增湿器模型</a:t>
            </a:r>
            <a:endParaRPr lang="en-US" altLang="zh-CN" sz="1800" b="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8279D75-1336-FDD2-E867-D473DD182AD2}"/>
              </a:ext>
            </a:extLst>
          </p:cNvPr>
          <p:cNvSpPr txBox="1"/>
          <p:nvPr/>
        </p:nvSpPr>
        <p:spPr>
          <a:xfrm>
            <a:off x="102754" y="2085626"/>
            <a:ext cx="46132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+mn-lt"/>
                <a:ea typeface="+mn-ea"/>
              </a:rPr>
              <a:t>干侧控制体：</a:t>
            </a:r>
            <a:endParaRPr lang="en-US" altLang="zh-CN" dirty="0">
              <a:solidFill>
                <a:srgbClr val="000066"/>
              </a:solidFill>
              <a:latin typeface="+mn-lt"/>
              <a:ea typeface="+mn-ea"/>
            </a:endParaRPr>
          </a:p>
          <a:p>
            <a:r>
              <a:rPr lang="zh-CN" altLang="en-US" dirty="0">
                <a:solidFill>
                  <a:srgbClr val="000066"/>
                </a:solidFill>
                <a:latin typeface="+mn-lt"/>
                <a:ea typeface="+mn-ea"/>
              </a:rPr>
              <a:t>干空气分压与水蒸气分压通过质量守恒求解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F0E5903-80C0-1882-2183-D3A91B72C997}"/>
              </a:ext>
            </a:extLst>
          </p:cNvPr>
          <p:cNvSpPr txBox="1"/>
          <p:nvPr/>
        </p:nvSpPr>
        <p:spPr>
          <a:xfrm>
            <a:off x="101413" y="5093541"/>
            <a:ext cx="55507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solidFill>
                  <a:srgbClr val="000066"/>
                </a:solidFill>
                <a:latin typeface="+mn-lt"/>
                <a:ea typeface="+mn-ea"/>
              </a:defRPr>
            </a:lvl1pPr>
          </a:lstStyle>
          <a:p>
            <a:r>
              <a:rPr lang="zh-CN" altLang="en-US" dirty="0"/>
              <a:t>出口的干空气流量与水蒸气流量通过压差求解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75C07229-8065-7E4D-B203-35892F464471}"/>
              </a:ext>
            </a:extLst>
          </p:cNvPr>
          <p:cNvSpPr/>
          <p:nvPr/>
        </p:nvSpPr>
        <p:spPr bwMode="auto">
          <a:xfrm>
            <a:off x="5277066" y="2378192"/>
            <a:ext cx="3039847" cy="597246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dirty="0">
                <a:solidFill>
                  <a:srgbClr val="FF0000"/>
                </a:solidFill>
                <a:latin typeface="Arial" charset="0"/>
                <a:ea typeface="黑体" pitchFamily="2" charset="-122"/>
              </a:rPr>
              <a:t>干</a:t>
            </a:r>
            <a:r>
              <a:rPr kumimoji="1" lang="zh-CN" altLang="en-US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ea typeface="黑体" pitchFamily="2" charset="-122"/>
              </a:rPr>
              <a:t>侧控制体</a:t>
            </a:r>
            <a:r>
              <a:rPr kumimoji="1" lang="en-US" altLang="zh-CN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ea typeface="黑体" pitchFamily="2" charset="-122"/>
              </a:rPr>
              <a:t>1</a:t>
            </a:r>
            <a:endParaRPr kumimoji="1" lang="zh-CN" altLang="en-US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ACA1225D-D907-AD49-24C1-2762CECFC201}"/>
              </a:ext>
            </a:extLst>
          </p:cNvPr>
          <p:cNvSpPr/>
          <p:nvPr/>
        </p:nvSpPr>
        <p:spPr bwMode="auto">
          <a:xfrm>
            <a:off x="5277066" y="2988368"/>
            <a:ext cx="3039847" cy="597246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dirty="0" err="1">
                <a:latin typeface="Arial" charset="0"/>
                <a:ea typeface="黑体" pitchFamily="2" charset="-122"/>
              </a:rPr>
              <a:t>Nafion</a:t>
            </a:r>
            <a:r>
              <a:rPr kumimoji="1" lang="zh-CN" altLang="en-US" dirty="0">
                <a:latin typeface="Arial" charset="0"/>
                <a:ea typeface="黑体" pitchFamily="2" charset="-122"/>
              </a:rPr>
              <a:t>膜</a:t>
            </a:r>
            <a:endParaRPr kumimoji="1" lang="zh-CN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0F065662-607E-58E7-8CC2-E0039C8D8747}"/>
              </a:ext>
            </a:extLst>
          </p:cNvPr>
          <p:cNvSpPr/>
          <p:nvPr/>
        </p:nvSpPr>
        <p:spPr bwMode="auto">
          <a:xfrm>
            <a:off x="5277065" y="3599670"/>
            <a:ext cx="3039847" cy="597246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黑体" pitchFamily="2" charset="-122"/>
              </a:rPr>
              <a:t>湿侧控制体</a:t>
            </a:r>
          </a:p>
        </p:txBody>
      </p:sp>
      <p:sp>
        <p:nvSpPr>
          <p:cNvPr id="49" name="箭头: 右 48">
            <a:extLst>
              <a:ext uri="{FF2B5EF4-FFF2-40B4-BE49-F238E27FC236}">
                <a16:creationId xmlns:a16="http://schemas.microsoft.com/office/drawing/2014/main" id="{2C383A3B-6321-208B-931A-D8A3F89E2AB9}"/>
              </a:ext>
            </a:extLst>
          </p:cNvPr>
          <p:cNvSpPr/>
          <p:nvPr/>
        </p:nvSpPr>
        <p:spPr bwMode="auto">
          <a:xfrm>
            <a:off x="4716017" y="2546901"/>
            <a:ext cx="423498" cy="290798"/>
          </a:xfrm>
          <a:prstGeom prst="rightArrow">
            <a:avLst/>
          </a:prstGeom>
          <a:solidFill>
            <a:srgbClr val="FF0000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50" name="箭头: 右 49">
            <a:extLst>
              <a:ext uri="{FF2B5EF4-FFF2-40B4-BE49-F238E27FC236}">
                <a16:creationId xmlns:a16="http://schemas.microsoft.com/office/drawing/2014/main" id="{F1A540C4-4BAF-4A0C-B29C-441BED4E7B91}"/>
              </a:ext>
            </a:extLst>
          </p:cNvPr>
          <p:cNvSpPr/>
          <p:nvPr/>
        </p:nvSpPr>
        <p:spPr bwMode="auto">
          <a:xfrm>
            <a:off x="8468982" y="2546901"/>
            <a:ext cx="423498" cy="290798"/>
          </a:xfrm>
          <a:prstGeom prst="rightArrow">
            <a:avLst/>
          </a:prstGeom>
          <a:solidFill>
            <a:srgbClr val="FF0000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51" name="箭头: 右 50">
            <a:extLst>
              <a:ext uri="{FF2B5EF4-FFF2-40B4-BE49-F238E27FC236}">
                <a16:creationId xmlns:a16="http://schemas.microsoft.com/office/drawing/2014/main" id="{A652BD45-3714-E6E3-5B71-E231190D65DF}"/>
              </a:ext>
            </a:extLst>
          </p:cNvPr>
          <p:cNvSpPr/>
          <p:nvPr/>
        </p:nvSpPr>
        <p:spPr bwMode="auto">
          <a:xfrm rot="10800000">
            <a:off x="8467860" y="3761101"/>
            <a:ext cx="423498" cy="290798"/>
          </a:xfrm>
          <a:prstGeom prst="rightArrow">
            <a:avLst/>
          </a:prstGeom>
          <a:solidFill>
            <a:srgbClr val="00B0F0"/>
          </a:solidFill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52" name="箭头: 右 51">
            <a:extLst>
              <a:ext uri="{FF2B5EF4-FFF2-40B4-BE49-F238E27FC236}">
                <a16:creationId xmlns:a16="http://schemas.microsoft.com/office/drawing/2014/main" id="{D88E6E55-B9BB-A6D6-1229-B92C91CC3766}"/>
              </a:ext>
            </a:extLst>
          </p:cNvPr>
          <p:cNvSpPr/>
          <p:nvPr/>
        </p:nvSpPr>
        <p:spPr bwMode="auto">
          <a:xfrm rot="10800000">
            <a:off x="4716017" y="3761102"/>
            <a:ext cx="423498" cy="290798"/>
          </a:xfrm>
          <a:prstGeom prst="rightArrow">
            <a:avLst/>
          </a:prstGeom>
          <a:solidFill>
            <a:srgbClr val="00B0F0"/>
          </a:solidFill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黑体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4FF2F45E-CC59-779C-48D5-7BDF2138040F}"/>
                  </a:ext>
                </a:extLst>
              </p:cNvPr>
              <p:cNvSpPr txBox="1"/>
              <p:nvPr/>
            </p:nvSpPr>
            <p:spPr>
              <a:xfrm>
                <a:off x="169459" y="3501101"/>
                <a:ext cx="4669933" cy="5438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𝑑𝑟𝑦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𝑑𝑟𝑦𝑎𝑖𝑟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𝑑𝑟𝑦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𝑑𝑝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𝑑𝑟𝑦𝑎𝑖𝑟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,1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𝑑𝑟𝑦𝑎𝑖𝑟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,1,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𝑑𝑟𝑦𝑎𝑖𝑟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,1,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4FF2F45E-CC59-779C-48D5-7BDF213804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459" y="3501101"/>
                <a:ext cx="4669933" cy="54380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0F90205D-29F2-5918-2968-0687E6FE9396}"/>
                  </a:ext>
                </a:extLst>
              </p:cNvPr>
              <p:cNvSpPr txBox="1"/>
              <p:nvPr/>
            </p:nvSpPr>
            <p:spPr>
              <a:xfrm>
                <a:off x="169459" y="4279296"/>
                <a:ext cx="5828326" cy="5445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𝑑𝑟𝑦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𝑑𝑟𝑦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𝑑𝑝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𝑣𝑎𝑝𝑜𝑟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,1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𝑣𝑎𝑝𝑜𝑟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,1,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altLang="zh-CN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𝑤𝑒𝑡</m:t>
                          </m:r>
                          <m:r>
                            <a:rPr lang="en-US" altLang="zh-C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𝑑𝑟𝑦</m:t>
                          </m:r>
                          <m:r>
                            <a:rPr lang="en-US" altLang="zh-C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𝑣𝑎𝑝𝑜𝑟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𝑣𝑎𝑝𝑜𝑟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,1,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0F90205D-29F2-5918-2968-0687E6FE93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459" y="4279296"/>
                <a:ext cx="5828326" cy="5445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505130D6-159C-E56A-A03C-5D31056B4779}"/>
                  </a:ext>
                </a:extLst>
              </p:cNvPr>
              <p:cNvSpPr txBox="1"/>
              <p:nvPr/>
            </p:nvSpPr>
            <p:spPr>
              <a:xfrm>
                <a:off x="235406" y="5732161"/>
                <a:ext cx="4538037" cy="265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𝑑𝑟𝑦𝑎𝑖𝑟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,1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US" altLang="zh-CN" sz="16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𝑘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𝑑𝑟𝑦𝑎𝑖𝑟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𝑑𝑟𝑦𝑎𝑖𝑟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𝑣𝑎𝑝𝑜𝑟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𝑐𝑎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505130D6-159C-E56A-A03C-5D31056B47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406" y="5732161"/>
                <a:ext cx="4538037" cy="265650"/>
              </a:xfrm>
              <a:prstGeom prst="rect">
                <a:avLst/>
              </a:prstGeom>
              <a:blipFill>
                <a:blip r:embed="rId5"/>
                <a:stretch>
                  <a:fillRect r="-806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79A73A6A-5D86-B494-DDBA-7CAB226EF681}"/>
                  </a:ext>
                </a:extLst>
              </p:cNvPr>
              <p:cNvSpPr txBox="1"/>
              <p:nvPr/>
            </p:nvSpPr>
            <p:spPr>
              <a:xfrm>
                <a:off x="0" y="6156012"/>
                <a:ext cx="4970649" cy="357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𝑣𝑎𝑝𝑜𝑟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,1,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𝑘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𝑣𝑎𝑝𝑜𝑟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𝑑𝑟𝑦𝑎𝑖𝑟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𝑣𝑎𝑝𝑜𝑟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𝑐𝑎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79A73A6A-5D86-B494-DDBA-7CAB226EF6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156012"/>
                <a:ext cx="4970649" cy="357983"/>
              </a:xfrm>
              <a:prstGeom prst="rect">
                <a:avLst/>
              </a:prstGeom>
              <a:blipFill>
                <a:blip r:embed="rId6"/>
                <a:stretch>
                  <a:fillRect b="-67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E09F9F65-8385-55EE-48BE-F102A65F4BFB}"/>
                  </a:ext>
                </a:extLst>
              </p:cNvPr>
              <p:cNvSpPr txBox="1"/>
              <p:nvPr/>
            </p:nvSpPr>
            <p:spPr>
              <a:xfrm>
                <a:off x="3707904" y="1477085"/>
                <a:ext cx="2849073" cy="8892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600" dirty="0"/>
                  <a:t>入口干空气流量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𝑑𝑟𝑦𝑎𝑖𝑟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,1,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endParaRPr lang="en-US" altLang="zh-CN" sz="1600" dirty="0"/>
              </a:p>
              <a:p>
                <a:pPr algn="ctr"/>
                <a:r>
                  <a:rPr lang="zh-CN" altLang="en-US" sz="1600" dirty="0"/>
                  <a:t>入口水蒸气流量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𝑣𝑎𝑝𝑜𝑟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,1,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endParaRPr lang="en-US" altLang="zh-CN" sz="1600" dirty="0"/>
              </a:p>
              <a:p>
                <a:pPr algn="ctr"/>
                <a:r>
                  <a:rPr lang="zh-CN" altLang="en-US" sz="1600" dirty="0"/>
                  <a:t>入口温度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𝑑𝑟𝑦</m:t>
                        </m:r>
                      </m:sub>
                    </m:sSub>
                  </m:oMath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E09F9F65-8385-55EE-48BE-F102A65F4B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7904" y="1477085"/>
                <a:ext cx="2849073" cy="889282"/>
              </a:xfrm>
              <a:prstGeom prst="rect">
                <a:avLst/>
              </a:prstGeom>
              <a:blipFill>
                <a:blip r:embed="rId7"/>
                <a:stretch>
                  <a:fillRect t="-2055" b="-54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9FB6D9A2-3FE3-C88A-2389-00FDC01989F6}"/>
                  </a:ext>
                </a:extLst>
              </p:cNvPr>
              <p:cNvSpPr txBox="1"/>
              <p:nvPr/>
            </p:nvSpPr>
            <p:spPr>
              <a:xfrm>
                <a:off x="101413" y="2761603"/>
                <a:ext cx="2382355" cy="62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𝑑𝑟𝑦𝑎𝑖𝑟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𝑑𝑟𝑦𝑎𝑖𝑟</m:t>
                                  </m:r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𝑑𝑟𝑦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𝑑𝑟𝑦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𝑎𝑖𝑟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𝑑𝑟𝑦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9FB6D9A2-3FE3-C88A-2389-00FDC01989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13" y="2761603"/>
                <a:ext cx="2382355" cy="62966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847A9000-259A-2BF6-829E-0B243671B214}"/>
                  </a:ext>
                </a:extLst>
              </p:cNvPr>
              <p:cNvSpPr txBox="1"/>
              <p:nvPr/>
            </p:nvSpPr>
            <p:spPr>
              <a:xfrm>
                <a:off x="2201660" y="2771819"/>
                <a:ext cx="2621449" cy="62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𝑣𝑎𝑝𝑜𝑟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𝑣𝑎𝑝𝑜𝑟</m:t>
                                  </m:r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𝑑𝑟𝑦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𝑑𝑟𝑦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847A9000-259A-2BF6-829E-0B243671B2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1660" y="2771819"/>
                <a:ext cx="2621449" cy="62966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86868675-318D-E7CB-A611-0F404C9CD506}"/>
                  </a:ext>
                </a:extLst>
              </p:cNvPr>
              <p:cNvSpPr txBox="1"/>
              <p:nvPr/>
            </p:nvSpPr>
            <p:spPr>
              <a:xfrm>
                <a:off x="7893567" y="1951393"/>
                <a:ext cx="129614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600" dirty="0"/>
                  <a:t>出口压力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𝑐𝑎</m:t>
                        </m:r>
                      </m:sub>
                    </m:sSub>
                  </m:oMath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86868675-318D-E7CB-A611-0F404C9CD5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3567" y="1951393"/>
                <a:ext cx="1296144" cy="338554"/>
              </a:xfrm>
              <a:prstGeom prst="rect">
                <a:avLst/>
              </a:prstGeom>
              <a:blipFill>
                <a:blip r:embed="rId10"/>
                <a:stretch>
                  <a:fillRect l="-2830" t="-5357"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6C6B3AD9-7622-511F-F9AC-BB3A5C2B00A5}"/>
                  </a:ext>
                </a:extLst>
              </p:cNvPr>
              <p:cNvSpPr txBox="1"/>
              <p:nvPr/>
            </p:nvSpPr>
            <p:spPr>
              <a:xfrm>
                <a:off x="6300192" y="1973855"/>
                <a:ext cx="1440160" cy="357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600" dirty="0"/>
                  <a:t>干侧体积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𝑑𝑟𝑦</m:t>
                        </m:r>
                      </m:sub>
                    </m:sSub>
                  </m:oMath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6C6B3AD9-7622-511F-F9AC-BB3A5C2B00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0192" y="1973855"/>
                <a:ext cx="1440160" cy="357983"/>
              </a:xfrm>
              <a:prstGeom prst="rect">
                <a:avLst/>
              </a:prstGeom>
              <a:blipFill>
                <a:blip r:embed="rId11"/>
                <a:stretch>
                  <a:fillRect l="-2110" t="-5085" b="-152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9AB88B29-DF50-CB01-8E50-5D9B4CF65B37}"/>
              </a:ext>
            </a:extLst>
          </p:cNvPr>
          <p:cNvCxnSpPr/>
          <p:nvPr/>
        </p:nvCxnSpPr>
        <p:spPr bwMode="auto">
          <a:xfrm flipV="1">
            <a:off x="7308304" y="2807979"/>
            <a:ext cx="0" cy="903936"/>
          </a:xfrm>
          <a:prstGeom prst="straightConnector1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6B517441-C58D-6478-1B6E-9243FEB51E8C}"/>
                  </a:ext>
                </a:extLst>
              </p:cNvPr>
              <p:cNvSpPr txBox="1"/>
              <p:nvPr/>
            </p:nvSpPr>
            <p:spPr>
              <a:xfrm>
                <a:off x="7198099" y="3003113"/>
                <a:ext cx="1675930" cy="8504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600" b="0" dirty="0"/>
                  <a:t>湿侧传递至干侧的水蒸汽流量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𝑤𝑒𝑡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𝑑𝑟𝑦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𝑣𝑎𝑝𝑜𝑟</m:t>
                        </m:r>
                      </m:sub>
                    </m:sSub>
                  </m:oMath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6B517441-C58D-6478-1B6E-9243FEB51E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8099" y="3003113"/>
                <a:ext cx="1675930" cy="850426"/>
              </a:xfrm>
              <a:prstGeom prst="rect">
                <a:avLst/>
              </a:prstGeom>
              <a:blipFill>
                <a:blip r:embed="rId12"/>
                <a:stretch>
                  <a:fillRect t="-2158" b="-2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4493336"/>
      </p:ext>
    </p:extLst>
  </p:cSld>
  <p:clrMapOvr>
    <a:masterClrMapping/>
  </p:clrMapOvr>
  <p:transition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7A3B994-5CE1-04E1-79F7-C48C40012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三、燃料电池系统建模</a:t>
            </a:r>
          </a:p>
        </p:txBody>
      </p:sp>
      <p:sp>
        <p:nvSpPr>
          <p:cNvPr id="4" name="内容占位符 1">
            <a:extLst>
              <a:ext uri="{FF2B5EF4-FFF2-40B4-BE49-F238E27FC236}">
                <a16:creationId xmlns:a16="http://schemas.microsoft.com/office/drawing/2014/main" id="{D20FB510-1B48-8C77-40B7-181D3D27A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1196752"/>
            <a:ext cx="4680520" cy="794064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2.</a:t>
            </a:r>
            <a:r>
              <a:rPr lang="zh-CN" altLang="en-US" dirty="0"/>
              <a:t> 空气供给系统模型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1800" b="0" dirty="0"/>
              <a:t>2.3 </a:t>
            </a:r>
            <a:r>
              <a:rPr lang="zh-CN" altLang="en-US" sz="1800" b="0" dirty="0"/>
              <a:t>气</a:t>
            </a:r>
            <a:r>
              <a:rPr lang="en-US" altLang="zh-CN" sz="1800" b="0" dirty="0"/>
              <a:t>/</a:t>
            </a:r>
            <a:r>
              <a:rPr lang="zh-CN" altLang="en-US" sz="1800" b="0" dirty="0"/>
              <a:t>气增湿器模型</a:t>
            </a:r>
            <a:endParaRPr lang="en-US" altLang="zh-CN" sz="1800" b="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8279D75-1336-FDD2-E867-D473DD182AD2}"/>
              </a:ext>
            </a:extLst>
          </p:cNvPr>
          <p:cNvSpPr txBox="1"/>
          <p:nvPr/>
        </p:nvSpPr>
        <p:spPr>
          <a:xfrm>
            <a:off x="101413" y="2043264"/>
            <a:ext cx="45638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+mn-lt"/>
                <a:ea typeface="+mn-ea"/>
              </a:rPr>
              <a:t>湿侧控制体：</a:t>
            </a:r>
            <a:endParaRPr lang="en-US" altLang="zh-CN" dirty="0">
              <a:solidFill>
                <a:srgbClr val="000066"/>
              </a:solidFill>
              <a:latin typeface="+mn-lt"/>
              <a:ea typeface="+mn-ea"/>
            </a:endParaRPr>
          </a:p>
          <a:p>
            <a:r>
              <a:rPr lang="zh-CN" altLang="en-US" dirty="0">
                <a:solidFill>
                  <a:srgbClr val="000066"/>
                </a:solidFill>
                <a:latin typeface="+mn-lt"/>
                <a:ea typeface="+mn-ea"/>
              </a:rPr>
              <a:t>干空气分压与水蒸气分压通过质量守恒求解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F0E5903-80C0-1882-2183-D3A91B72C997}"/>
              </a:ext>
            </a:extLst>
          </p:cNvPr>
          <p:cNvSpPr txBox="1"/>
          <p:nvPr/>
        </p:nvSpPr>
        <p:spPr>
          <a:xfrm>
            <a:off x="44531" y="5001788"/>
            <a:ext cx="47586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solidFill>
                  <a:srgbClr val="000066"/>
                </a:solidFill>
                <a:latin typeface="+mn-lt"/>
                <a:ea typeface="+mn-ea"/>
              </a:defRPr>
            </a:lvl1pPr>
          </a:lstStyle>
          <a:p>
            <a:r>
              <a:rPr lang="zh-CN" altLang="en-US" dirty="0"/>
              <a:t>出口的干空气流量与水蒸气流量通过压差求解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4FF2F45E-CC59-779C-48D5-7BDF2138040F}"/>
                  </a:ext>
                </a:extLst>
              </p:cNvPr>
              <p:cNvSpPr txBox="1"/>
              <p:nvPr/>
            </p:nvSpPr>
            <p:spPr>
              <a:xfrm>
                <a:off x="201829" y="3437356"/>
                <a:ext cx="4370171" cy="5438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𝑤𝑒𝑡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𝑎𝑖𝑟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𝑤𝑒𝑡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𝑑𝑝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𝑑𝑟𝑦𝑎𝑖𝑟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,2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𝑑𝑟𝑦𝑎𝑖𝑟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,2,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𝑑𝑟𝑦𝑎𝑖𝑟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,2,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4FF2F45E-CC59-779C-48D5-7BDF213804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829" y="3437356"/>
                <a:ext cx="4370171" cy="54380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0F90205D-29F2-5918-2968-0687E6FE9396}"/>
                  </a:ext>
                </a:extLst>
              </p:cNvPr>
              <p:cNvSpPr txBox="1"/>
              <p:nvPr/>
            </p:nvSpPr>
            <p:spPr>
              <a:xfrm>
                <a:off x="101413" y="4262046"/>
                <a:ext cx="5828711" cy="5445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𝑤𝑒𝑡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𝑤𝑒𝑡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𝑑𝑝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𝑣𝑎𝑝𝑜𝑟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,2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𝑣𝑎𝑝𝑜𝑟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,2,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altLang="zh-CN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𝑤𝑒𝑡</m:t>
                          </m:r>
                          <m:r>
                            <a:rPr lang="en-US" altLang="zh-C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𝑑𝑟𝑦</m:t>
                          </m:r>
                          <m:r>
                            <a:rPr lang="en-US" altLang="zh-C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𝑣𝑎𝑝𝑜𝑟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𝑣𝑎𝑝𝑜𝑟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,2,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0F90205D-29F2-5918-2968-0687E6FE93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13" y="4262046"/>
                <a:ext cx="5828711" cy="5445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505130D6-159C-E56A-A03C-5D31056B4779}"/>
                  </a:ext>
                </a:extLst>
              </p:cNvPr>
              <p:cNvSpPr txBox="1"/>
              <p:nvPr/>
            </p:nvSpPr>
            <p:spPr>
              <a:xfrm>
                <a:off x="194674" y="5528423"/>
                <a:ext cx="4640629" cy="265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𝑑𝑟𝑦𝑎𝑖𝑟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,2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US" altLang="zh-CN" sz="16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𝑘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𝑑𝑟𝑦𝑎𝑖𝑟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,2</m:t>
                          </m:r>
                        </m:sub>
                      </m:sSub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𝑑𝑟𝑦𝑎𝑖𝑟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,2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𝑣𝑎𝑝𝑜𝑟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,2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𝑏𝑝𝑣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505130D6-159C-E56A-A03C-5D31056B47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674" y="5528423"/>
                <a:ext cx="4640629" cy="265650"/>
              </a:xfrm>
              <a:prstGeom prst="rect">
                <a:avLst/>
              </a:prstGeom>
              <a:blipFill>
                <a:blip r:embed="rId5"/>
                <a:stretch>
                  <a:fillRect r="-788" b="-279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79A73A6A-5D86-B494-DDBA-7CAB226EF681}"/>
                  </a:ext>
                </a:extLst>
              </p:cNvPr>
              <p:cNvSpPr txBox="1"/>
              <p:nvPr/>
            </p:nvSpPr>
            <p:spPr>
              <a:xfrm>
                <a:off x="0" y="6011849"/>
                <a:ext cx="497064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𝑣𝑎𝑝𝑜𝑟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,2,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𝑘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𝑣𝑎𝑝𝑜𝑟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,2</m:t>
                          </m:r>
                        </m:sub>
                      </m:sSub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𝑑𝑟𝑦𝑎𝑖𝑟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,2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𝑣𝑎𝑝𝑜𝑟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,2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𝑏𝑝𝑣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79A73A6A-5D86-B494-DDBA-7CAB226EF6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011849"/>
                <a:ext cx="4970649" cy="369332"/>
              </a:xfrm>
              <a:prstGeom prst="rect">
                <a:avLst/>
              </a:prstGeom>
              <a:blipFill>
                <a:blip r:embed="rId6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E09F9F65-8385-55EE-48BE-F102A65F4BFB}"/>
                  </a:ext>
                </a:extLst>
              </p:cNvPr>
              <p:cNvSpPr txBox="1"/>
              <p:nvPr/>
            </p:nvSpPr>
            <p:spPr>
              <a:xfrm>
                <a:off x="6541370" y="4751751"/>
                <a:ext cx="2592288" cy="8694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600" dirty="0"/>
                  <a:t>入口温度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𝑤𝑒𝑡</m:t>
                        </m:r>
                      </m:sub>
                    </m:sSub>
                  </m:oMath>
                </a14:m>
                <a:endParaRPr lang="zh-CN" altLang="en-US" sz="1600" dirty="0"/>
              </a:p>
              <a:p>
                <a:pPr algn="ctr"/>
                <a:r>
                  <a:rPr lang="zh-CN" altLang="en-US" sz="1600" dirty="0"/>
                  <a:t>入口干空气流量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𝑑𝑟𝑦𝑎𝑖𝑟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,2,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endParaRPr lang="en-US" altLang="zh-CN" sz="1600" dirty="0"/>
              </a:p>
              <a:p>
                <a:pPr algn="ctr"/>
                <a:r>
                  <a:rPr lang="zh-CN" altLang="en-US" sz="1600" dirty="0"/>
                  <a:t>入口水蒸气流量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𝑣𝑎𝑝𝑜𝑟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,2,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E09F9F65-8385-55EE-48BE-F102A65F4B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1370" y="4751751"/>
                <a:ext cx="2592288" cy="869405"/>
              </a:xfrm>
              <a:prstGeom prst="rect">
                <a:avLst/>
              </a:prstGeom>
              <a:blipFill>
                <a:blip r:embed="rId7"/>
                <a:stretch>
                  <a:fillRect l="-941" t="-2098" b="-55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E07F270E-49BD-D9EA-E217-7F9A0D61CEF1}"/>
                  </a:ext>
                </a:extLst>
              </p:cNvPr>
              <p:cNvSpPr txBox="1"/>
              <p:nvPr/>
            </p:nvSpPr>
            <p:spPr>
              <a:xfrm>
                <a:off x="103638" y="2687541"/>
                <a:ext cx="2524146" cy="62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𝑑𝑟𝑦𝑎𝑖𝑟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,2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𝑑𝑟𝑦𝑎𝑖𝑟</m:t>
                                  </m:r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,2</m:t>
                                  </m:r>
                                </m:sub>
                              </m:s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𝑤𝑒𝑡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𝑑𝑟𝑦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𝑎𝑖𝑟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𝑤𝑒𝑡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E07F270E-49BD-D9EA-E217-7F9A0D61CE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38" y="2687541"/>
                <a:ext cx="2524146" cy="62966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43A4B467-99B5-460C-E03B-C1C18255D4DC}"/>
                  </a:ext>
                </a:extLst>
              </p:cNvPr>
              <p:cNvSpPr txBox="1"/>
              <p:nvPr/>
            </p:nvSpPr>
            <p:spPr>
              <a:xfrm>
                <a:off x="2570154" y="2689760"/>
                <a:ext cx="2267333" cy="62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𝑣𝑎𝑝𝑜𝑟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,2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𝑣𝑎𝑝𝑜𝑟</m:t>
                                  </m:r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,2</m:t>
                                  </m:r>
                                </m:sub>
                              </m:s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𝑤𝑒𝑡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𝑤𝑒𝑡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43A4B467-99B5-460C-E03B-C1C18255D4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0154" y="2689760"/>
                <a:ext cx="2267333" cy="62966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矩形 60">
            <a:extLst>
              <a:ext uri="{FF2B5EF4-FFF2-40B4-BE49-F238E27FC236}">
                <a16:creationId xmlns:a16="http://schemas.microsoft.com/office/drawing/2014/main" id="{09418B29-E317-B9C2-E666-EE6CD25C5C9F}"/>
              </a:ext>
            </a:extLst>
          </p:cNvPr>
          <p:cNvSpPr/>
          <p:nvPr/>
        </p:nvSpPr>
        <p:spPr bwMode="auto">
          <a:xfrm>
            <a:off x="5405224" y="2541933"/>
            <a:ext cx="3039847" cy="597246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dirty="0">
                <a:latin typeface="Arial" charset="0"/>
                <a:ea typeface="黑体" pitchFamily="2" charset="-122"/>
              </a:rPr>
              <a:t>干</a:t>
            </a:r>
            <a:r>
              <a:rPr kumimoji="1" lang="zh-CN" altLang="en-US" i="0" u="none" strike="noStrike" cap="none" normalizeH="0" baseline="0" dirty="0">
                <a:ln>
                  <a:noFill/>
                </a:ln>
                <a:effectLst/>
                <a:latin typeface="Arial" charset="0"/>
                <a:ea typeface="黑体" pitchFamily="2" charset="-122"/>
              </a:rPr>
              <a:t>侧控制体</a:t>
            </a:r>
            <a:r>
              <a:rPr kumimoji="1" lang="en-US" altLang="zh-CN" i="0" u="none" strike="noStrike" cap="none" normalizeH="0" baseline="0" dirty="0">
                <a:ln>
                  <a:noFill/>
                </a:ln>
                <a:effectLst/>
                <a:latin typeface="Arial" charset="0"/>
                <a:ea typeface="黑体" pitchFamily="2" charset="-122"/>
              </a:rPr>
              <a:t>1</a:t>
            </a:r>
            <a:endParaRPr kumimoji="1" lang="zh-CN" altLang="en-US" i="0" u="none" strike="noStrike" cap="none" normalizeH="0" baseline="0" dirty="0">
              <a:ln>
                <a:noFill/>
              </a:ln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79A564FF-0A59-54C0-E00E-38827B64E381}"/>
              </a:ext>
            </a:extLst>
          </p:cNvPr>
          <p:cNvSpPr/>
          <p:nvPr/>
        </p:nvSpPr>
        <p:spPr bwMode="auto">
          <a:xfrm>
            <a:off x="5405224" y="3152109"/>
            <a:ext cx="3039847" cy="597246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dirty="0" err="1">
                <a:latin typeface="Arial" charset="0"/>
                <a:ea typeface="黑体" pitchFamily="2" charset="-122"/>
              </a:rPr>
              <a:t>Nafion</a:t>
            </a:r>
            <a:r>
              <a:rPr kumimoji="1" lang="zh-CN" altLang="en-US" dirty="0">
                <a:latin typeface="Arial" charset="0"/>
                <a:ea typeface="黑体" pitchFamily="2" charset="-122"/>
              </a:rPr>
              <a:t>膜</a:t>
            </a:r>
            <a:endParaRPr kumimoji="1" lang="zh-CN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BD9859C3-E47F-EEF9-90CC-1AF40F263A76}"/>
              </a:ext>
            </a:extLst>
          </p:cNvPr>
          <p:cNvSpPr/>
          <p:nvPr/>
        </p:nvSpPr>
        <p:spPr bwMode="auto">
          <a:xfrm>
            <a:off x="5405223" y="3763411"/>
            <a:ext cx="3039847" cy="597246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ea typeface="黑体" pitchFamily="2" charset="-122"/>
              </a:rPr>
              <a:t>湿侧控制体</a:t>
            </a:r>
            <a:r>
              <a:rPr kumimoji="1" lang="en-US" altLang="zh-CN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ea typeface="黑体" pitchFamily="2" charset="-122"/>
              </a:rPr>
              <a:t>2</a:t>
            </a:r>
            <a:endParaRPr kumimoji="1" lang="zh-CN" altLang="en-US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64" name="箭头: 右 63">
            <a:extLst>
              <a:ext uri="{FF2B5EF4-FFF2-40B4-BE49-F238E27FC236}">
                <a16:creationId xmlns:a16="http://schemas.microsoft.com/office/drawing/2014/main" id="{88E39F66-6868-C3FB-064F-363B85033932}"/>
              </a:ext>
            </a:extLst>
          </p:cNvPr>
          <p:cNvSpPr/>
          <p:nvPr/>
        </p:nvSpPr>
        <p:spPr bwMode="auto">
          <a:xfrm>
            <a:off x="4844175" y="2710642"/>
            <a:ext cx="423498" cy="290798"/>
          </a:xfrm>
          <a:prstGeom prst="rightArrow">
            <a:avLst/>
          </a:prstGeom>
          <a:solidFill>
            <a:srgbClr val="FF0000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66" name="箭头: 右 65">
            <a:extLst>
              <a:ext uri="{FF2B5EF4-FFF2-40B4-BE49-F238E27FC236}">
                <a16:creationId xmlns:a16="http://schemas.microsoft.com/office/drawing/2014/main" id="{CA733DDB-65ED-A4CC-E70A-F4634ADD181D}"/>
              </a:ext>
            </a:extLst>
          </p:cNvPr>
          <p:cNvSpPr/>
          <p:nvPr/>
        </p:nvSpPr>
        <p:spPr bwMode="auto">
          <a:xfrm>
            <a:off x="8597140" y="2710642"/>
            <a:ext cx="423498" cy="290798"/>
          </a:xfrm>
          <a:prstGeom prst="rightArrow">
            <a:avLst/>
          </a:prstGeom>
          <a:solidFill>
            <a:srgbClr val="FF0000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67" name="箭头: 右 66">
            <a:extLst>
              <a:ext uri="{FF2B5EF4-FFF2-40B4-BE49-F238E27FC236}">
                <a16:creationId xmlns:a16="http://schemas.microsoft.com/office/drawing/2014/main" id="{8C97F760-9600-E0A3-78E2-212573C12199}"/>
              </a:ext>
            </a:extLst>
          </p:cNvPr>
          <p:cNvSpPr/>
          <p:nvPr/>
        </p:nvSpPr>
        <p:spPr bwMode="auto">
          <a:xfrm rot="10800000">
            <a:off x="8596018" y="3939799"/>
            <a:ext cx="423498" cy="290798"/>
          </a:xfrm>
          <a:prstGeom prst="rightArrow">
            <a:avLst/>
          </a:prstGeom>
          <a:solidFill>
            <a:srgbClr val="00B0F0"/>
          </a:solidFill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68" name="箭头: 右 67">
            <a:extLst>
              <a:ext uri="{FF2B5EF4-FFF2-40B4-BE49-F238E27FC236}">
                <a16:creationId xmlns:a16="http://schemas.microsoft.com/office/drawing/2014/main" id="{5C3F4AC2-B8B9-951E-E4F3-387D19000E71}"/>
              </a:ext>
            </a:extLst>
          </p:cNvPr>
          <p:cNvSpPr/>
          <p:nvPr/>
        </p:nvSpPr>
        <p:spPr bwMode="auto">
          <a:xfrm rot="10800000">
            <a:off x="4844175" y="3939800"/>
            <a:ext cx="423498" cy="290798"/>
          </a:xfrm>
          <a:prstGeom prst="rightArrow">
            <a:avLst/>
          </a:prstGeom>
          <a:solidFill>
            <a:srgbClr val="00B0F0"/>
          </a:solidFill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黑体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2CF3B09C-48E3-00EB-B356-9580ECDCB402}"/>
                  </a:ext>
                </a:extLst>
              </p:cNvPr>
              <p:cNvSpPr txBox="1"/>
              <p:nvPr/>
            </p:nvSpPr>
            <p:spPr>
              <a:xfrm>
                <a:off x="7339388" y="3144255"/>
                <a:ext cx="1675930" cy="8504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600" b="0" dirty="0"/>
                  <a:t>湿侧传递至干侧的水蒸汽流量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𝑤𝑒𝑡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𝑑𝑟𝑦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𝑣𝑎𝑝𝑜𝑟</m:t>
                        </m:r>
                      </m:sub>
                    </m:sSub>
                  </m:oMath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2CF3B09C-48E3-00EB-B356-9580ECDCB4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9388" y="3144255"/>
                <a:ext cx="1675930" cy="850426"/>
              </a:xfrm>
              <a:prstGeom prst="rect">
                <a:avLst/>
              </a:prstGeom>
              <a:blipFill>
                <a:blip r:embed="rId10"/>
                <a:stretch>
                  <a:fillRect t="-2158" b="-2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3C0FCC30-E8F9-85E3-35B1-60EEB9A9D3DA}"/>
              </a:ext>
            </a:extLst>
          </p:cNvPr>
          <p:cNvCxnSpPr/>
          <p:nvPr/>
        </p:nvCxnSpPr>
        <p:spPr bwMode="auto">
          <a:xfrm flipV="1">
            <a:off x="7391161" y="3001440"/>
            <a:ext cx="0" cy="903936"/>
          </a:xfrm>
          <a:prstGeom prst="straightConnector1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B9865F14-E00E-05DD-B76E-7E76E24403D4}"/>
                  </a:ext>
                </a:extLst>
              </p:cNvPr>
              <p:cNvSpPr txBox="1"/>
              <p:nvPr/>
            </p:nvSpPr>
            <p:spPr>
              <a:xfrm>
                <a:off x="4716017" y="4769384"/>
                <a:ext cx="1452796" cy="3575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600" dirty="0"/>
                  <a:t>出口压力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𝑏𝑝𝑣</m:t>
                        </m:r>
                      </m:sub>
                    </m:sSub>
                  </m:oMath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B9865F14-E00E-05DD-B76E-7E76E24403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6017" y="4769384"/>
                <a:ext cx="1452796" cy="357534"/>
              </a:xfrm>
              <a:prstGeom prst="rect">
                <a:avLst/>
              </a:prstGeom>
              <a:blipFill>
                <a:blip r:embed="rId11"/>
                <a:stretch>
                  <a:fillRect l="-2521" t="-5085" b="-152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3761451C-4497-A8C7-4BFA-FF32FA3DCFF1}"/>
                  </a:ext>
                </a:extLst>
              </p:cNvPr>
              <p:cNvSpPr txBox="1"/>
              <p:nvPr/>
            </p:nvSpPr>
            <p:spPr>
              <a:xfrm>
                <a:off x="6205066" y="4355138"/>
                <a:ext cx="144016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600" dirty="0"/>
                  <a:t>湿侧体积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𝑤𝑒𝑡</m:t>
                        </m:r>
                      </m:sub>
                    </m:sSub>
                  </m:oMath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3761451C-4497-A8C7-4BFA-FF32FA3DCF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5066" y="4355138"/>
                <a:ext cx="1440160" cy="338554"/>
              </a:xfrm>
              <a:prstGeom prst="rect">
                <a:avLst/>
              </a:prstGeom>
              <a:blipFill>
                <a:blip r:embed="rId12"/>
                <a:stretch>
                  <a:fillRect l="-2542" t="-5357"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7864460"/>
      </p:ext>
    </p:extLst>
  </p:cSld>
  <p:clrMapOvr>
    <a:masterClrMapping/>
  </p:clrMapOvr>
  <p:transition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5723518C-6634-7488-3E1A-FF50AF954457}"/>
              </a:ext>
            </a:extLst>
          </p:cNvPr>
          <p:cNvSpPr/>
          <p:nvPr/>
        </p:nvSpPr>
        <p:spPr bwMode="auto">
          <a:xfrm>
            <a:off x="5592762" y="2121613"/>
            <a:ext cx="398029" cy="597246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FF90594-02D0-3318-6D1D-2E0A4E20D546}"/>
              </a:ext>
            </a:extLst>
          </p:cNvPr>
          <p:cNvSpPr/>
          <p:nvPr/>
        </p:nvSpPr>
        <p:spPr bwMode="auto">
          <a:xfrm>
            <a:off x="6461956" y="1269002"/>
            <a:ext cx="828600" cy="305184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7A3B994-5CE1-04E1-79F7-C48C40012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三、燃料电池系统建模</a:t>
            </a:r>
          </a:p>
        </p:txBody>
      </p:sp>
      <p:sp>
        <p:nvSpPr>
          <p:cNvPr id="4" name="内容占位符 1">
            <a:extLst>
              <a:ext uri="{FF2B5EF4-FFF2-40B4-BE49-F238E27FC236}">
                <a16:creationId xmlns:a16="http://schemas.microsoft.com/office/drawing/2014/main" id="{D20FB510-1B48-8C77-40B7-181D3D27A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1196752"/>
            <a:ext cx="4680520" cy="794064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2.</a:t>
            </a:r>
            <a:r>
              <a:rPr lang="zh-CN" altLang="en-US" dirty="0"/>
              <a:t> 空气供给系统模型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1800" b="0" dirty="0"/>
              <a:t>2.3 </a:t>
            </a:r>
            <a:r>
              <a:rPr lang="zh-CN" altLang="en-US" sz="1800" b="0" dirty="0"/>
              <a:t>气</a:t>
            </a:r>
            <a:r>
              <a:rPr lang="en-US" altLang="zh-CN" sz="1800" b="0" dirty="0"/>
              <a:t>/</a:t>
            </a:r>
            <a:r>
              <a:rPr lang="zh-CN" altLang="en-US" sz="1800" b="0" dirty="0"/>
              <a:t>气增湿器模型</a:t>
            </a:r>
            <a:endParaRPr lang="en-US" altLang="zh-CN" sz="1800" b="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8279D75-1336-FDD2-E867-D473DD182AD2}"/>
              </a:ext>
            </a:extLst>
          </p:cNvPr>
          <p:cNvSpPr txBox="1"/>
          <p:nvPr/>
        </p:nvSpPr>
        <p:spPr>
          <a:xfrm>
            <a:off x="101412" y="2043264"/>
            <a:ext cx="48579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+mn-lt"/>
                <a:ea typeface="+mn-ea"/>
              </a:rPr>
              <a:t>膜控制体：</a:t>
            </a:r>
            <a:endParaRPr lang="en-US" altLang="zh-CN" dirty="0">
              <a:solidFill>
                <a:srgbClr val="FF0000"/>
              </a:solidFill>
              <a:latin typeface="+mn-lt"/>
              <a:ea typeface="+mn-ea"/>
            </a:endParaRPr>
          </a:p>
          <a:p>
            <a:r>
              <a:rPr lang="zh-CN" altLang="en-US" dirty="0">
                <a:solidFill>
                  <a:srgbClr val="000066"/>
                </a:solidFill>
                <a:latin typeface="+mn-lt"/>
                <a:ea typeface="+mn-ea"/>
              </a:rPr>
              <a:t>水传递速率受膜两侧浓度扩散与压差扩散影响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F0E5903-80C0-1882-2183-D3A91B72C997}"/>
              </a:ext>
            </a:extLst>
          </p:cNvPr>
          <p:cNvSpPr txBox="1"/>
          <p:nvPr/>
        </p:nvSpPr>
        <p:spPr>
          <a:xfrm>
            <a:off x="101412" y="3254425"/>
            <a:ext cx="4225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solidFill>
                  <a:srgbClr val="000066"/>
                </a:solidFill>
                <a:latin typeface="+mn-lt"/>
                <a:ea typeface="+mn-ea"/>
              </a:defRPr>
            </a:lvl1pPr>
          </a:lstStyle>
          <a:p>
            <a:r>
              <a:rPr lang="zh-CN" altLang="en-US" dirty="0"/>
              <a:t>浓度扩散由膜两侧的水浓度梯度驱动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F21662C9-1C69-99B3-6807-FD74580EAF28}"/>
              </a:ext>
            </a:extLst>
          </p:cNvPr>
          <p:cNvSpPr/>
          <p:nvPr/>
        </p:nvSpPr>
        <p:spPr bwMode="auto">
          <a:xfrm>
            <a:off x="5868144" y="1441567"/>
            <a:ext cx="2016224" cy="2016224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F382D00E-8442-3E37-2E41-B4A800F29ED9}"/>
              </a:ext>
            </a:extLst>
          </p:cNvPr>
          <p:cNvSpPr/>
          <p:nvPr/>
        </p:nvSpPr>
        <p:spPr bwMode="auto">
          <a:xfrm>
            <a:off x="6300192" y="1867015"/>
            <a:ext cx="323528" cy="305184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709593CA-3841-00E1-22C6-127129E85367}"/>
              </a:ext>
            </a:extLst>
          </p:cNvPr>
          <p:cNvSpPr/>
          <p:nvPr/>
        </p:nvSpPr>
        <p:spPr bwMode="auto">
          <a:xfrm>
            <a:off x="6407235" y="2243101"/>
            <a:ext cx="323528" cy="305184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A2290E01-60FB-7F69-C7AD-4312C7234DB9}"/>
              </a:ext>
            </a:extLst>
          </p:cNvPr>
          <p:cNvSpPr/>
          <p:nvPr/>
        </p:nvSpPr>
        <p:spPr bwMode="auto">
          <a:xfrm>
            <a:off x="6732240" y="1937917"/>
            <a:ext cx="323528" cy="305184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CEA88900-BEA0-6718-0420-CAD2BFD8F24B}"/>
              </a:ext>
            </a:extLst>
          </p:cNvPr>
          <p:cNvSpPr/>
          <p:nvPr/>
        </p:nvSpPr>
        <p:spPr bwMode="auto">
          <a:xfrm>
            <a:off x="6837806" y="2324791"/>
            <a:ext cx="323528" cy="305184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2AEDB078-B62A-9008-E9B4-BE92146A4081}"/>
              </a:ext>
            </a:extLst>
          </p:cNvPr>
          <p:cNvSpPr/>
          <p:nvPr/>
        </p:nvSpPr>
        <p:spPr bwMode="auto">
          <a:xfrm>
            <a:off x="6944849" y="2700877"/>
            <a:ext cx="323528" cy="305184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52BE1637-4A69-28FB-020B-230E5A3358A6}"/>
              </a:ext>
            </a:extLst>
          </p:cNvPr>
          <p:cNvSpPr/>
          <p:nvPr/>
        </p:nvSpPr>
        <p:spPr bwMode="auto">
          <a:xfrm>
            <a:off x="7269854" y="2395693"/>
            <a:ext cx="323528" cy="305184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C1D68B78-5058-3420-6100-ACDFA6238119}"/>
              </a:ext>
            </a:extLst>
          </p:cNvPr>
          <p:cNvSpPr/>
          <p:nvPr/>
        </p:nvSpPr>
        <p:spPr bwMode="auto">
          <a:xfrm>
            <a:off x="6114772" y="2538377"/>
            <a:ext cx="323528" cy="305184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70311276-E20F-4BE7-EFF5-1BDD58FF9F04}"/>
              </a:ext>
            </a:extLst>
          </p:cNvPr>
          <p:cNvSpPr/>
          <p:nvPr/>
        </p:nvSpPr>
        <p:spPr bwMode="auto">
          <a:xfrm>
            <a:off x="6221815" y="2914463"/>
            <a:ext cx="323528" cy="305184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935B1B35-6D06-3BDB-E493-16BCF6F6D826}"/>
              </a:ext>
            </a:extLst>
          </p:cNvPr>
          <p:cNvSpPr/>
          <p:nvPr/>
        </p:nvSpPr>
        <p:spPr bwMode="auto">
          <a:xfrm>
            <a:off x="6546820" y="2609279"/>
            <a:ext cx="323528" cy="305184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D08B8D53-030C-7A76-693E-F337C2A966C9}"/>
              </a:ext>
            </a:extLst>
          </p:cNvPr>
          <p:cNvSpPr/>
          <p:nvPr/>
        </p:nvSpPr>
        <p:spPr bwMode="auto">
          <a:xfrm>
            <a:off x="6623720" y="1561831"/>
            <a:ext cx="323528" cy="305184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D4315DA2-7F25-DEA3-D2A4-2A7741F1FDCC}"/>
              </a:ext>
            </a:extLst>
          </p:cNvPr>
          <p:cNvSpPr/>
          <p:nvPr/>
        </p:nvSpPr>
        <p:spPr bwMode="auto">
          <a:xfrm>
            <a:off x="7055768" y="1632733"/>
            <a:ext cx="323528" cy="305184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68982B73-12E2-61ED-1F6A-1EEF2A5E7F3A}"/>
              </a:ext>
            </a:extLst>
          </p:cNvPr>
          <p:cNvSpPr/>
          <p:nvPr/>
        </p:nvSpPr>
        <p:spPr bwMode="auto">
          <a:xfrm>
            <a:off x="6596222" y="2964298"/>
            <a:ext cx="323528" cy="305184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5535221E-FFC9-70DE-4EE1-2D988D916B87}"/>
              </a:ext>
            </a:extLst>
          </p:cNvPr>
          <p:cNvSpPr/>
          <p:nvPr/>
        </p:nvSpPr>
        <p:spPr bwMode="auto">
          <a:xfrm>
            <a:off x="7028270" y="3035200"/>
            <a:ext cx="323528" cy="305184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4E949FD0-8432-7334-A946-284525F3C357}"/>
              </a:ext>
            </a:extLst>
          </p:cNvPr>
          <p:cNvSpPr/>
          <p:nvPr/>
        </p:nvSpPr>
        <p:spPr bwMode="auto">
          <a:xfrm>
            <a:off x="7276542" y="1973414"/>
            <a:ext cx="323528" cy="305184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黑体" pitchFamily="2" charset="-122"/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87BFFB25-D94F-3DFC-6392-D40EA5EE57F8}"/>
              </a:ext>
            </a:extLst>
          </p:cNvPr>
          <p:cNvCxnSpPr>
            <a:cxnSpLocks/>
          </p:cNvCxnSpPr>
          <p:nvPr/>
        </p:nvCxnSpPr>
        <p:spPr bwMode="auto">
          <a:xfrm>
            <a:off x="7740352" y="2243101"/>
            <a:ext cx="288032" cy="0"/>
          </a:xfrm>
          <a:prstGeom prst="straightConnector1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93DF8DD5-1A83-D24A-EA58-90B24DC6E676}"/>
              </a:ext>
            </a:extLst>
          </p:cNvPr>
          <p:cNvSpPr txBox="1"/>
          <p:nvPr/>
        </p:nvSpPr>
        <p:spPr>
          <a:xfrm>
            <a:off x="7988145" y="2073824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湿侧</a:t>
            </a:r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5E38A603-32FC-8CC1-216C-C416785A75A7}"/>
              </a:ext>
            </a:extLst>
          </p:cNvPr>
          <p:cNvCxnSpPr>
            <a:cxnSpLocks/>
            <a:stCxn id="27" idx="6"/>
          </p:cNvCxnSpPr>
          <p:nvPr/>
        </p:nvCxnSpPr>
        <p:spPr bwMode="auto">
          <a:xfrm>
            <a:off x="7593382" y="2548285"/>
            <a:ext cx="414967" cy="0"/>
          </a:xfrm>
          <a:prstGeom prst="straightConnector1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EBB15149-D169-7599-94B9-22B9358CC759}"/>
              </a:ext>
            </a:extLst>
          </p:cNvPr>
          <p:cNvSpPr txBox="1"/>
          <p:nvPr/>
        </p:nvSpPr>
        <p:spPr>
          <a:xfrm>
            <a:off x="7970014" y="2382352"/>
            <a:ext cx="12554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 err="1"/>
              <a:t>Nafion</a:t>
            </a:r>
            <a:r>
              <a:rPr lang="zh-CN" altLang="en-US" sz="1600" dirty="0"/>
              <a:t>管束</a:t>
            </a:r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33914773-42D8-F781-70B6-310514949728}"/>
              </a:ext>
            </a:extLst>
          </p:cNvPr>
          <p:cNvCxnSpPr>
            <a:cxnSpLocks/>
          </p:cNvCxnSpPr>
          <p:nvPr/>
        </p:nvCxnSpPr>
        <p:spPr bwMode="auto">
          <a:xfrm flipV="1">
            <a:off x="7101515" y="2865014"/>
            <a:ext cx="906834" cy="11546"/>
          </a:xfrm>
          <a:prstGeom prst="straightConnector1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7429AD46-AB3E-6C04-B115-0A277353C974}"/>
              </a:ext>
            </a:extLst>
          </p:cNvPr>
          <p:cNvSpPr txBox="1"/>
          <p:nvPr/>
        </p:nvSpPr>
        <p:spPr>
          <a:xfrm>
            <a:off x="7988144" y="2713086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干侧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3523FFD4-C890-82A2-6C08-7969AB3597C8}"/>
              </a:ext>
            </a:extLst>
          </p:cNvPr>
          <p:cNvSpPr txBox="1"/>
          <p:nvPr/>
        </p:nvSpPr>
        <p:spPr>
          <a:xfrm>
            <a:off x="6338801" y="916387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湿侧入口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678CF5B2-1689-0B75-EF92-75153671430D}"/>
              </a:ext>
            </a:extLst>
          </p:cNvPr>
          <p:cNvSpPr txBox="1"/>
          <p:nvPr/>
        </p:nvSpPr>
        <p:spPr>
          <a:xfrm>
            <a:off x="5154253" y="1897335"/>
            <a:ext cx="39178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湿侧出口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2319E899-1A3B-C37B-7BB8-56629658F149}"/>
                  </a:ext>
                </a:extLst>
              </p:cNvPr>
              <p:cNvSpPr txBox="1"/>
              <p:nvPr/>
            </p:nvSpPr>
            <p:spPr>
              <a:xfrm>
                <a:off x="101412" y="2717270"/>
                <a:ext cx="4693336" cy="4741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600" i="1" smtClean="0">
                          <a:latin typeface="Cambria Math" panose="02040503050406030204" pitchFamily="18" charset="0"/>
                        </a:rPr>
                        <m:t>𝜏</m:t>
                      </m:r>
                      <m:f>
                        <m:f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𝑤𝑒𝑡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𝑑𝑟𝑦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𝑣𝑎𝑝𝑜𝑟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𝑤𝑒𝑡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𝑑𝑟𝑦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𝑣𝑎𝑝𝑜𝑟</m:t>
                          </m:r>
                        </m:sub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𝑑𝑖𝑓𝑓𝑢𝑠𝑖𝑜𝑛</m:t>
                          </m:r>
                        </m:sup>
                      </m:sSubSup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𝑤𝑒𝑡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𝑑𝑟𝑦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𝑣𝑎𝑝𝑜𝑟</m:t>
                          </m:r>
                        </m:sub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𝑝𝑟𝑒𝑠𝑠𝑢𝑟𝑒</m:t>
                          </m:r>
                        </m:sup>
                      </m:sSubSup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2319E899-1A3B-C37B-7BB8-56629658F1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12" y="2717270"/>
                <a:ext cx="4693336" cy="4741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2D3A6EB8-521E-F85D-CA5E-197D3C0D88A7}"/>
                  </a:ext>
                </a:extLst>
              </p:cNvPr>
              <p:cNvSpPr txBox="1"/>
              <p:nvPr/>
            </p:nvSpPr>
            <p:spPr>
              <a:xfrm>
                <a:off x="0" y="3611682"/>
                <a:ext cx="6516068" cy="6081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𝑤𝑒𝑡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𝑑𝑟𝑦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𝑣𝑎𝑝𝑜𝑟</m:t>
                          </m:r>
                        </m:sub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𝑑𝑖𝑓𝑓𝑢𝑠𝑖𝑜𝑛</m:t>
                          </m:r>
                        </m:sup>
                      </m:sSubSup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6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𝑑𝑟𝑦</m:t>
                              </m:r>
                            </m:sub>
                          </m:s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6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𝑤𝑒𝑡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)</m:t>
                      </m:r>
                      <m:f>
                        <m:f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600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𝑚𝑒𝑚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𝐸𝑊</m:t>
                          </m:r>
                        </m:den>
                      </m:f>
                      <m:f>
                        <m:f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𝑑𝑟𝑦</m:t>
                              </m:r>
                            </m:sub>
                          </m:s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𝑤𝑒𝑡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𝑚𝑒𝑚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𝑚𝑒𝑚</m:t>
                          </m:r>
                        </m:sub>
                      </m:sSub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𝑚𝑒𝑚</m:t>
                          </m:r>
                        </m:sub>
                      </m:sSub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2D3A6EB8-521E-F85D-CA5E-197D3C0D88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611682"/>
                <a:ext cx="6516068" cy="6081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F4779525-0AF9-2B17-C57D-BAE3279BCB42}"/>
                  </a:ext>
                </a:extLst>
              </p:cNvPr>
              <p:cNvSpPr txBox="1"/>
              <p:nvPr/>
            </p:nvSpPr>
            <p:spPr>
              <a:xfrm>
                <a:off x="-16767" y="6173243"/>
                <a:ext cx="5707035" cy="3933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𝑤𝑒𝑡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𝑑𝑟𝑦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𝑣𝑎𝑝𝑜𝑟</m:t>
                          </m:r>
                        </m:sub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𝑝𝑟𝑒𝑠𝑠𝑢𝑟𝑒</m:t>
                          </m:r>
                        </m:sup>
                      </m:sSubSup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𝑑𝑟𝑦𝑎𝑖𝑟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,2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𝑣𝑎𝑝𝑜𝑟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,2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𝑑𝑟𝑦𝑎𝑖𝑟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𝑣𝑎𝑝𝑜𝑟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F4779525-0AF9-2B17-C57D-BAE3279BCB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6767" y="6173243"/>
                <a:ext cx="5707035" cy="393377"/>
              </a:xfrm>
              <a:prstGeom prst="rect">
                <a:avLst/>
              </a:prstGeom>
              <a:blipFill>
                <a:blip r:embed="rId5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文本框 58">
            <a:extLst>
              <a:ext uri="{FF2B5EF4-FFF2-40B4-BE49-F238E27FC236}">
                <a16:creationId xmlns:a16="http://schemas.microsoft.com/office/drawing/2014/main" id="{389C35C1-3A70-3AFF-3473-256E7214B604}"/>
              </a:ext>
            </a:extLst>
          </p:cNvPr>
          <p:cNvSpPr txBox="1"/>
          <p:nvPr/>
        </p:nvSpPr>
        <p:spPr>
          <a:xfrm>
            <a:off x="101412" y="5803911"/>
            <a:ext cx="4225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solidFill>
                  <a:srgbClr val="000066"/>
                </a:solidFill>
                <a:latin typeface="+mn-lt"/>
                <a:ea typeface="+mn-ea"/>
              </a:defRPr>
            </a:lvl1pPr>
          </a:lstStyle>
          <a:p>
            <a:r>
              <a:rPr lang="zh-CN" altLang="en-US" dirty="0"/>
              <a:t>压差扩散由膜两侧的气体压力梯度驱动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027149F9-CAE6-A003-77D6-1A338F108C98}"/>
                  </a:ext>
                </a:extLst>
              </p:cNvPr>
              <p:cNvSpPr txBox="1"/>
              <p:nvPr/>
            </p:nvSpPr>
            <p:spPr>
              <a:xfrm>
                <a:off x="101412" y="4301634"/>
                <a:ext cx="5808577" cy="6395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60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0.043+17.81</m:t>
                              </m:r>
                              <m:sSub>
                                <m:sSub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−39.85</m:t>
                              </m:r>
                              <m:sSubSup>
                                <m:sSubSup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+36</m:t>
                              </m:r>
                              <m:sSubSup>
                                <m:sSubSup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∈(0,1]</m:t>
                              </m:r>
                            </m:e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14+1.4</m:t>
                              </m:r>
                              <m:d>
                                <m:d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(1,3]</m:t>
                              </m:r>
                            </m:e>
                          </m:eqArr>
                        </m:e>
                      </m:d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𝑤𝑒𝑡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𝑑𝑟𝑦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027149F9-CAE6-A003-77D6-1A338F108C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12" y="4301634"/>
                <a:ext cx="5808577" cy="63953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CA0E3F0D-109A-92F6-0986-61C27E7BAD11}"/>
                  </a:ext>
                </a:extLst>
              </p:cNvPr>
              <p:cNvSpPr txBox="1"/>
              <p:nvPr/>
            </p:nvSpPr>
            <p:spPr>
              <a:xfrm>
                <a:off x="101412" y="4999736"/>
                <a:ext cx="2710229" cy="5527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𝑣𝑎𝑝𝑜𝑟</m:t>
                              </m:r>
                            </m:sub>
                            <m: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𝑠𝑎𝑡</m:t>
                              </m:r>
                            </m:sub>
                          </m:s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h𝑢𝑚</m:t>
                              </m:r>
                            </m:sub>
                          </m:s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𝑤𝑒𝑡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𝑑𝑟𝑦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CA0E3F0D-109A-92F6-0986-61C27E7BAD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12" y="4999736"/>
                <a:ext cx="2710229" cy="55271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A04BE4DC-6FAD-1B59-2715-F4087680771E}"/>
                  </a:ext>
                </a:extLst>
              </p:cNvPr>
              <p:cNvSpPr txBox="1"/>
              <p:nvPr/>
            </p:nvSpPr>
            <p:spPr>
              <a:xfrm>
                <a:off x="2851905" y="4976368"/>
                <a:ext cx="2282348" cy="5533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h𝑢𝑚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𝑑𝑟𝑦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𝑤𝑒𝑡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A04BE4DC-6FAD-1B59-2715-F408768077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1905" y="4976368"/>
                <a:ext cx="2282348" cy="55335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矩形 60">
            <a:extLst>
              <a:ext uri="{FF2B5EF4-FFF2-40B4-BE49-F238E27FC236}">
                <a16:creationId xmlns:a16="http://schemas.microsoft.com/office/drawing/2014/main" id="{EFFB12DD-E893-1BC7-73C3-F124C902CE93}"/>
              </a:ext>
            </a:extLst>
          </p:cNvPr>
          <p:cNvSpPr/>
          <p:nvPr/>
        </p:nvSpPr>
        <p:spPr bwMode="auto">
          <a:xfrm>
            <a:off x="6263219" y="4749141"/>
            <a:ext cx="2096484" cy="597246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dirty="0">
                <a:latin typeface="Arial" charset="0"/>
                <a:ea typeface="黑体" pitchFamily="2" charset="-122"/>
              </a:rPr>
              <a:t>干</a:t>
            </a:r>
            <a:r>
              <a:rPr kumimoji="1" lang="zh-CN" altLang="en-US" i="0" u="none" strike="noStrike" cap="none" normalizeH="0" baseline="0" dirty="0">
                <a:ln>
                  <a:noFill/>
                </a:ln>
                <a:effectLst/>
                <a:latin typeface="Arial" charset="0"/>
                <a:ea typeface="黑体" pitchFamily="2" charset="-122"/>
              </a:rPr>
              <a:t>侧控制体</a:t>
            </a:r>
            <a:r>
              <a:rPr kumimoji="1" lang="en-US" altLang="zh-CN" i="0" u="none" strike="noStrike" cap="none" normalizeH="0" baseline="0" dirty="0">
                <a:ln>
                  <a:noFill/>
                </a:ln>
                <a:effectLst/>
                <a:latin typeface="Arial" charset="0"/>
                <a:ea typeface="黑体" pitchFamily="2" charset="-122"/>
              </a:rPr>
              <a:t>1</a:t>
            </a:r>
            <a:endParaRPr kumimoji="1" lang="zh-CN" altLang="en-US" i="0" u="none" strike="noStrike" cap="none" normalizeH="0" baseline="0" dirty="0">
              <a:ln>
                <a:noFill/>
              </a:ln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CB3FFD1E-27E2-6447-E7E8-4CBB26568823}"/>
              </a:ext>
            </a:extLst>
          </p:cNvPr>
          <p:cNvSpPr/>
          <p:nvPr/>
        </p:nvSpPr>
        <p:spPr bwMode="auto">
          <a:xfrm>
            <a:off x="6263219" y="5359317"/>
            <a:ext cx="2096484" cy="597246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dirty="0" err="1">
                <a:solidFill>
                  <a:srgbClr val="FF0000"/>
                </a:solidFill>
                <a:latin typeface="Arial" charset="0"/>
                <a:ea typeface="黑体" pitchFamily="2" charset="-122"/>
              </a:rPr>
              <a:t>Nafion</a:t>
            </a:r>
            <a:r>
              <a:rPr kumimoji="1" lang="zh-CN" altLang="en-US" dirty="0">
                <a:solidFill>
                  <a:srgbClr val="FF0000"/>
                </a:solidFill>
                <a:latin typeface="Arial" charset="0"/>
                <a:ea typeface="黑体" pitchFamily="2" charset="-122"/>
              </a:rPr>
              <a:t>膜</a:t>
            </a:r>
            <a:endParaRPr kumimoji="1" lang="zh-CN" altLang="en-US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1350397A-C87F-7D47-ED38-D4DCFD7A1BA0}"/>
              </a:ext>
            </a:extLst>
          </p:cNvPr>
          <p:cNvSpPr/>
          <p:nvPr/>
        </p:nvSpPr>
        <p:spPr bwMode="auto">
          <a:xfrm>
            <a:off x="6263218" y="5970619"/>
            <a:ext cx="2096484" cy="597246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i="0" u="none" strike="noStrike" cap="none" normalizeH="0" baseline="0" dirty="0">
                <a:ln>
                  <a:noFill/>
                </a:ln>
                <a:effectLst/>
                <a:latin typeface="Arial" charset="0"/>
                <a:ea typeface="黑体" pitchFamily="2" charset="-122"/>
              </a:rPr>
              <a:t>湿侧控制体</a:t>
            </a:r>
            <a:r>
              <a:rPr kumimoji="1" lang="en-US" altLang="zh-CN" i="0" u="none" strike="noStrike" cap="none" normalizeH="0" baseline="0" dirty="0">
                <a:ln>
                  <a:noFill/>
                </a:ln>
                <a:effectLst/>
                <a:latin typeface="Arial" charset="0"/>
                <a:ea typeface="黑体" pitchFamily="2" charset="-122"/>
              </a:rPr>
              <a:t>2</a:t>
            </a:r>
            <a:endParaRPr kumimoji="1" lang="zh-CN" altLang="en-US" i="0" u="none" strike="noStrike" cap="none" normalizeH="0" baseline="0" dirty="0">
              <a:ln>
                <a:noFill/>
              </a:ln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64" name="箭头: 右 63">
            <a:extLst>
              <a:ext uri="{FF2B5EF4-FFF2-40B4-BE49-F238E27FC236}">
                <a16:creationId xmlns:a16="http://schemas.microsoft.com/office/drawing/2014/main" id="{92ED3434-AF5C-19F1-1388-5AC9FD76252F}"/>
              </a:ext>
            </a:extLst>
          </p:cNvPr>
          <p:cNvSpPr/>
          <p:nvPr/>
        </p:nvSpPr>
        <p:spPr bwMode="auto">
          <a:xfrm>
            <a:off x="5766918" y="4917850"/>
            <a:ext cx="423498" cy="290798"/>
          </a:xfrm>
          <a:prstGeom prst="rightArrow">
            <a:avLst/>
          </a:prstGeom>
          <a:solidFill>
            <a:srgbClr val="FF0000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66" name="箭头: 右 65">
            <a:extLst>
              <a:ext uri="{FF2B5EF4-FFF2-40B4-BE49-F238E27FC236}">
                <a16:creationId xmlns:a16="http://schemas.microsoft.com/office/drawing/2014/main" id="{224D2363-3476-B1DB-B95B-E17CC73DD9D4}"/>
              </a:ext>
            </a:extLst>
          </p:cNvPr>
          <p:cNvSpPr/>
          <p:nvPr/>
        </p:nvSpPr>
        <p:spPr bwMode="auto">
          <a:xfrm>
            <a:off x="8432335" y="4917850"/>
            <a:ext cx="423498" cy="290798"/>
          </a:xfrm>
          <a:prstGeom prst="rightArrow">
            <a:avLst/>
          </a:prstGeom>
          <a:solidFill>
            <a:srgbClr val="FF0000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67" name="箭头: 右 66">
            <a:extLst>
              <a:ext uri="{FF2B5EF4-FFF2-40B4-BE49-F238E27FC236}">
                <a16:creationId xmlns:a16="http://schemas.microsoft.com/office/drawing/2014/main" id="{B936C9A0-C840-9271-08C0-5AB2BBB38F45}"/>
              </a:ext>
            </a:extLst>
          </p:cNvPr>
          <p:cNvSpPr/>
          <p:nvPr/>
        </p:nvSpPr>
        <p:spPr bwMode="auto">
          <a:xfrm rot="10800000">
            <a:off x="8431213" y="6147007"/>
            <a:ext cx="423498" cy="290798"/>
          </a:xfrm>
          <a:prstGeom prst="rightArrow">
            <a:avLst/>
          </a:prstGeom>
          <a:solidFill>
            <a:srgbClr val="00B0F0"/>
          </a:solidFill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68" name="箭头: 右 67">
            <a:extLst>
              <a:ext uri="{FF2B5EF4-FFF2-40B4-BE49-F238E27FC236}">
                <a16:creationId xmlns:a16="http://schemas.microsoft.com/office/drawing/2014/main" id="{E5FD35F3-085F-964F-B01F-01E3A784138A}"/>
              </a:ext>
            </a:extLst>
          </p:cNvPr>
          <p:cNvSpPr/>
          <p:nvPr/>
        </p:nvSpPr>
        <p:spPr bwMode="auto">
          <a:xfrm rot="10800000">
            <a:off x="5766918" y="6147008"/>
            <a:ext cx="423498" cy="290798"/>
          </a:xfrm>
          <a:prstGeom prst="rightArrow">
            <a:avLst/>
          </a:prstGeom>
          <a:solidFill>
            <a:srgbClr val="00B0F0"/>
          </a:solidFill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黑体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04847839-2B0B-E818-967C-EA585DE32FFD}"/>
                  </a:ext>
                </a:extLst>
              </p:cNvPr>
              <p:cNvSpPr txBox="1"/>
              <p:nvPr/>
            </p:nvSpPr>
            <p:spPr>
              <a:xfrm>
                <a:off x="6478450" y="3448159"/>
                <a:ext cx="173150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600" dirty="0"/>
                  <a:t>管道数量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𝑚𝑒𝑚</m:t>
                        </m:r>
                      </m:sub>
                    </m:sSub>
                  </m:oMath>
                </a14:m>
                <a:endParaRPr lang="en-US" altLang="zh-CN" sz="1600" dirty="0"/>
              </a:p>
              <a:p>
                <a:pPr algn="ctr"/>
                <a:r>
                  <a:rPr lang="zh-CN" altLang="en-US" sz="1600" dirty="0"/>
                  <a:t>管道截面积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𝑚𝑒𝑚</m:t>
                        </m:r>
                      </m:sub>
                    </m:sSub>
                  </m:oMath>
                </a14:m>
                <a:endParaRPr lang="en-US" altLang="zh-CN" sz="1600" dirty="0"/>
              </a:p>
              <a:p>
                <a:pPr algn="ctr"/>
                <a:r>
                  <a:rPr lang="zh-CN" altLang="en-US" sz="1600" dirty="0"/>
                  <a:t>管道厚度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𝑚𝑒𝑚</m:t>
                        </m:r>
                      </m:sub>
                    </m:sSub>
                  </m:oMath>
                </a14:m>
                <a:endParaRPr lang="en-US" altLang="zh-CN" sz="1600" dirty="0"/>
              </a:p>
              <a:p>
                <a:pPr algn="ctr"/>
                <a:r>
                  <a:rPr lang="zh-CN" altLang="en-US" sz="1600" dirty="0"/>
                  <a:t>干膜密度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60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𝑚𝑒𝑚</m:t>
                        </m:r>
                      </m:sub>
                    </m:sSub>
                  </m:oMath>
                </a14:m>
                <a:endParaRPr lang="en-US" altLang="zh-CN" sz="1600" dirty="0"/>
              </a:p>
              <a:p>
                <a:pPr algn="ctr"/>
                <a:r>
                  <a:rPr lang="zh-CN" altLang="en-US" sz="1600" dirty="0"/>
                  <a:t>膜当量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𝐸𝑊</m:t>
                    </m:r>
                  </m:oMath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04847839-2B0B-E818-967C-EA585DE32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8450" y="3448159"/>
                <a:ext cx="1731508" cy="1323439"/>
              </a:xfrm>
              <a:prstGeom prst="rect">
                <a:avLst/>
              </a:prstGeom>
              <a:blipFill>
                <a:blip r:embed="rId9"/>
                <a:stretch>
                  <a:fillRect l="-1056" t="-1382" b="-50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6686411"/>
      </p:ext>
    </p:extLst>
  </p:cSld>
  <p:clrMapOvr>
    <a:masterClrMapping/>
  </p:clrMapOvr>
  <p:transition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7A3B994-5CE1-04E1-79F7-C48C40012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三、燃料电池系统建模</a:t>
            </a:r>
          </a:p>
        </p:txBody>
      </p:sp>
      <p:sp>
        <p:nvSpPr>
          <p:cNvPr id="4" name="内容占位符 1">
            <a:extLst>
              <a:ext uri="{FF2B5EF4-FFF2-40B4-BE49-F238E27FC236}">
                <a16:creationId xmlns:a16="http://schemas.microsoft.com/office/drawing/2014/main" id="{D20FB510-1B48-8C77-40B7-181D3D27A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1196752"/>
            <a:ext cx="8064698" cy="794064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2.</a:t>
            </a:r>
            <a:r>
              <a:rPr lang="zh-CN" altLang="en-US" dirty="0"/>
              <a:t> 空气供给系统模型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1800" b="0" dirty="0"/>
              <a:t>2.4 </a:t>
            </a:r>
            <a:r>
              <a:rPr lang="zh-CN" altLang="en-US" sz="1800" b="0" dirty="0"/>
              <a:t>背压阀模型</a:t>
            </a:r>
            <a:endParaRPr lang="en-US" altLang="zh-CN" sz="1800" b="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8279D75-1336-FDD2-E867-D473DD182AD2}"/>
              </a:ext>
            </a:extLst>
          </p:cNvPr>
          <p:cNvSpPr txBox="1"/>
          <p:nvPr/>
        </p:nvSpPr>
        <p:spPr>
          <a:xfrm>
            <a:off x="467544" y="2043737"/>
            <a:ext cx="76328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0066"/>
                </a:solidFill>
                <a:latin typeface="+mn-lt"/>
                <a:ea typeface="+mn-ea"/>
              </a:rPr>
              <a:t>背压阀通过开度控制流通量，采用喷嘴方程获得气体流量与压比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A58232C9-8CCC-7507-18EA-089E629972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597080"/>
              </p:ext>
            </p:extLst>
          </p:nvPr>
        </p:nvGraphicFramePr>
        <p:xfrm>
          <a:off x="746125" y="2489200"/>
          <a:ext cx="5637213" cy="197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517560" imgH="1218960" progId="Equation.DSMT4">
                  <p:embed/>
                </p:oleObj>
              </mc:Choice>
              <mc:Fallback>
                <p:oleObj name="Equation" r:id="rId3" imgW="3517560" imgH="121896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125" y="2489200"/>
                        <a:ext cx="5637213" cy="19700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>
            <a:extLst>
              <a:ext uri="{FF2B5EF4-FFF2-40B4-BE49-F238E27FC236}">
                <a16:creationId xmlns:a16="http://schemas.microsoft.com/office/drawing/2014/main" id="{2F0E5903-80C0-1882-2183-D3A91B72C997}"/>
              </a:ext>
            </a:extLst>
          </p:cNvPr>
          <p:cNvSpPr txBox="1"/>
          <p:nvPr/>
        </p:nvSpPr>
        <p:spPr>
          <a:xfrm>
            <a:off x="467544" y="453519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solidFill>
                  <a:srgbClr val="000066"/>
                </a:solidFill>
                <a:latin typeface="+mn-lt"/>
                <a:ea typeface="+mn-ea"/>
              </a:defRPr>
            </a:lvl1pPr>
          </a:lstStyle>
          <a:p>
            <a:r>
              <a:rPr lang="zh-CN" altLang="en-US" dirty="0"/>
              <a:t>背压阀</a:t>
            </a:r>
            <a:r>
              <a:rPr lang="zh-CN" altLang="zh-CN" dirty="0"/>
              <a:t>等效直径</a:t>
            </a:r>
            <a:endParaRPr lang="zh-CN" altLang="en-US" dirty="0"/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94BB9D3D-A9F5-84E0-AF80-A8A9652D27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1068819"/>
              </p:ext>
            </p:extLst>
          </p:nvPr>
        </p:nvGraphicFramePr>
        <p:xfrm>
          <a:off x="785802" y="5033357"/>
          <a:ext cx="2509523" cy="8402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35100" imgH="482600" progId="Equation.DSMT4">
                  <p:embed/>
                </p:oleObj>
              </mc:Choice>
              <mc:Fallback>
                <p:oleObj name="Equation" r:id="rId5" imgW="1435100" imgH="482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802" y="5033357"/>
                        <a:ext cx="2509523" cy="84021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图片 13">
            <a:extLst>
              <a:ext uri="{FF2B5EF4-FFF2-40B4-BE49-F238E27FC236}">
                <a16:creationId xmlns:a16="http://schemas.microsoft.com/office/drawing/2014/main" id="{48547C46-11BF-43C2-030D-9F78A342BA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4048" y="3242270"/>
            <a:ext cx="3036962" cy="2851026"/>
          </a:xfrm>
          <a:prstGeom prst="rect">
            <a:avLst/>
          </a:prstGeom>
        </p:spPr>
      </p:pic>
      <p:sp>
        <p:nvSpPr>
          <p:cNvPr id="20" name="箭头: 右 19">
            <a:extLst>
              <a:ext uri="{FF2B5EF4-FFF2-40B4-BE49-F238E27FC236}">
                <a16:creationId xmlns:a16="http://schemas.microsoft.com/office/drawing/2014/main" id="{0778BD6F-03A1-8A2A-F10D-ADE9D2F514D7}"/>
              </a:ext>
            </a:extLst>
          </p:cNvPr>
          <p:cNvSpPr/>
          <p:nvPr/>
        </p:nvSpPr>
        <p:spPr bwMode="auto">
          <a:xfrm>
            <a:off x="3995935" y="5201932"/>
            <a:ext cx="1137855" cy="363636"/>
          </a:xfrm>
          <a:prstGeom prst="rightArrow">
            <a:avLst/>
          </a:prstGeom>
          <a:solidFill>
            <a:srgbClr val="FF0000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21" name="箭头: 右 20">
            <a:extLst>
              <a:ext uri="{FF2B5EF4-FFF2-40B4-BE49-F238E27FC236}">
                <a16:creationId xmlns:a16="http://schemas.microsoft.com/office/drawing/2014/main" id="{2AD0915E-C957-F2C8-89BD-DFEA5803A919}"/>
              </a:ext>
            </a:extLst>
          </p:cNvPr>
          <p:cNvSpPr/>
          <p:nvPr/>
        </p:nvSpPr>
        <p:spPr bwMode="auto">
          <a:xfrm>
            <a:off x="8028384" y="5201932"/>
            <a:ext cx="907081" cy="363636"/>
          </a:xfrm>
          <a:prstGeom prst="rightArrow">
            <a:avLst/>
          </a:prstGeom>
          <a:solidFill>
            <a:srgbClr val="FF0000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黑体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6169C8EA-DCB6-331F-B793-C6A6226B02F9}"/>
                  </a:ext>
                </a:extLst>
              </p:cNvPr>
              <p:cNvSpPr txBox="1"/>
              <p:nvPr/>
            </p:nvSpPr>
            <p:spPr>
              <a:xfrm>
                <a:off x="5563856" y="6165304"/>
                <a:ext cx="205255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zh-CN" altLang="en-US" sz="1600" dirty="0"/>
                  <a:t>角度</a:t>
                </a:r>
                <a14:m>
                  <m:oMath xmlns:m="http://schemas.openxmlformats.org/officeDocument/2006/math">
                    <m:r>
                      <a:rPr lang="zh-CN" altLang="en-US" sz="160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zh-CN" altLang="en-US" sz="1600" dirty="0"/>
                  <a:t>；阀体直径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𝑡h</m:t>
                        </m:r>
                      </m:sub>
                    </m:sSub>
                  </m:oMath>
                </a14:m>
                <a:r>
                  <a:rPr lang="zh-CN" altLang="en-US" sz="1600" dirty="0"/>
                  <a:t>；</a:t>
                </a:r>
                <a:endParaRPr lang="en-US" altLang="zh-CN" sz="1600" dirty="0"/>
              </a:p>
              <a:p>
                <a:pPr algn="ctr"/>
                <a:r>
                  <a:rPr lang="zh-CN" altLang="en-US" sz="1600" dirty="0"/>
                  <a:t>叶片厚度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altLang="zh-CN" sz="1600" dirty="0"/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6169C8EA-DCB6-331F-B793-C6A6226B02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3856" y="6165304"/>
                <a:ext cx="2052550" cy="492443"/>
              </a:xfrm>
              <a:prstGeom prst="rect">
                <a:avLst/>
              </a:prstGeom>
              <a:blipFill>
                <a:blip r:embed="rId8"/>
                <a:stretch>
                  <a:fillRect l="-5952" t="-12346" r="-5655" b="-246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3DA04232-AD4F-F0BD-3DED-99DF6217FC50}"/>
                  </a:ext>
                </a:extLst>
              </p:cNvPr>
              <p:cNvSpPr txBox="1"/>
              <p:nvPr/>
            </p:nvSpPr>
            <p:spPr>
              <a:xfrm>
                <a:off x="3799382" y="4553020"/>
                <a:ext cx="1155637" cy="4946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zh-CN" altLang="en-US" sz="1600" dirty="0"/>
                  <a:t>前端压力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𝑟𝑚</m:t>
                        </m:r>
                      </m:sub>
                    </m:sSub>
                  </m:oMath>
                </a14:m>
                <a:endParaRPr lang="en-US" altLang="zh-CN" sz="1600" dirty="0"/>
              </a:p>
              <a:p>
                <a:r>
                  <a:rPr lang="zh-CN" altLang="en-US" sz="1600" dirty="0"/>
                  <a:t>前端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</a:rPr>
                      <m:t>温度</m:t>
                    </m:r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𝑟𝑚</m:t>
                        </m:r>
                      </m:sub>
                    </m:sSub>
                  </m:oMath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3DA04232-AD4F-F0BD-3DED-99DF6217FC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9382" y="4553020"/>
                <a:ext cx="1155637" cy="494687"/>
              </a:xfrm>
              <a:prstGeom prst="rect">
                <a:avLst/>
              </a:prstGeom>
              <a:blipFill>
                <a:blip r:embed="rId9"/>
                <a:stretch>
                  <a:fillRect l="-10526" t="-13580" r="-1053" b="-246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A5F62318-0C71-E142-CD5D-77C1D349037D}"/>
                  </a:ext>
                </a:extLst>
              </p:cNvPr>
              <p:cNvSpPr txBox="1"/>
              <p:nvPr/>
            </p:nvSpPr>
            <p:spPr>
              <a:xfrm>
                <a:off x="7857294" y="4733321"/>
                <a:ext cx="134989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600" dirty="0"/>
                  <a:t>后端压力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A5F62318-0C71-E142-CD5D-77C1D34903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7294" y="4733321"/>
                <a:ext cx="1349896" cy="338554"/>
              </a:xfrm>
              <a:prstGeom prst="rect">
                <a:avLst/>
              </a:prstGeom>
              <a:blipFill>
                <a:blip r:embed="rId10"/>
                <a:stretch>
                  <a:fillRect t="-5357"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本框 25">
            <a:extLst>
              <a:ext uri="{FF2B5EF4-FFF2-40B4-BE49-F238E27FC236}">
                <a16:creationId xmlns:a16="http://schemas.microsoft.com/office/drawing/2014/main" id="{851F702E-1143-DC31-A4FB-CA3C634B1BD3}"/>
              </a:ext>
            </a:extLst>
          </p:cNvPr>
          <p:cNvSpPr txBox="1"/>
          <p:nvPr/>
        </p:nvSpPr>
        <p:spPr>
          <a:xfrm>
            <a:off x="467544" y="6086049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solidFill>
                  <a:srgbClr val="000066"/>
                </a:solidFill>
                <a:latin typeface="+mn-lt"/>
                <a:ea typeface="+mn-ea"/>
              </a:defRPr>
            </a:lvl1pPr>
          </a:lstStyle>
          <a:p>
            <a:r>
              <a:rPr lang="zh-CN" altLang="en-US" dirty="0">
                <a:solidFill>
                  <a:srgbClr val="FF0000"/>
                </a:solidFill>
              </a:rPr>
              <a:t>氢气供给系统中进气阀、比例阀与尾排阀建模理论与背压阀建模理论基本一致。</a:t>
            </a:r>
          </a:p>
        </p:txBody>
      </p:sp>
    </p:spTree>
    <p:extLst>
      <p:ext uri="{BB962C8B-B14F-4D97-AF65-F5344CB8AC3E}">
        <p14:creationId xmlns:p14="http://schemas.microsoft.com/office/powerpoint/2010/main" val="2113794448"/>
      </p:ext>
    </p:extLst>
  </p:cSld>
  <p:clrMapOvr>
    <a:masterClrMapping/>
  </p:clrMapOvr>
  <p:transition>
    <p:rand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7A3B994-5CE1-04E1-79F7-C48C40012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三、燃料电池系统建模</a:t>
            </a:r>
          </a:p>
        </p:txBody>
      </p:sp>
      <p:sp>
        <p:nvSpPr>
          <p:cNvPr id="4" name="内容占位符 1">
            <a:extLst>
              <a:ext uri="{FF2B5EF4-FFF2-40B4-BE49-F238E27FC236}">
                <a16:creationId xmlns:a16="http://schemas.microsoft.com/office/drawing/2014/main" id="{D20FB510-1B48-8C77-40B7-181D3D27A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1196752"/>
            <a:ext cx="8064698" cy="794064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2.</a:t>
            </a:r>
            <a:r>
              <a:rPr lang="zh-CN" altLang="en-US" dirty="0"/>
              <a:t> 空气供给系统模型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1800" b="0" dirty="0"/>
              <a:t>2.5 </a:t>
            </a:r>
            <a:r>
              <a:rPr lang="zh-CN" altLang="en-US" sz="1800" b="0" dirty="0"/>
              <a:t>歧管模型</a:t>
            </a:r>
            <a:endParaRPr lang="en-US" altLang="zh-CN" sz="1800" b="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8279D75-1336-FDD2-E867-D473DD182AD2}"/>
              </a:ext>
            </a:extLst>
          </p:cNvPr>
          <p:cNvSpPr txBox="1"/>
          <p:nvPr/>
        </p:nvSpPr>
        <p:spPr>
          <a:xfrm>
            <a:off x="467544" y="2383084"/>
            <a:ext cx="76328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0066"/>
                </a:solidFill>
                <a:latin typeface="+mn-lt"/>
                <a:ea typeface="+mn-ea"/>
              </a:rPr>
              <a:t>出口流量通过流经歧管的气体压降计算</a:t>
            </a:r>
          </a:p>
        </p:txBody>
      </p:sp>
      <p:sp>
        <p:nvSpPr>
          <p:cNvPr id="20" name="箭头: 右 19">
            <a:extLst>
              <a:ext uri="{FF2B5EF4-FFF2-40B4-BE49-F238E27FC236}">
                <a16:creationId xmlns:a16="http://schemas.microsoft.com/office/drawing/2014/main" id="{0778BD6F-03A1-8A2A-F10D-ADE9D2F514D7}"/>
              </a:ext>
            </a:extLst>
          </p:cNvPr>
          <p:cNvSpPr/>
          <p:nvPr/>
        </p:nvSpPr>
        <p:spPr bwMode="auto">
          <a:xfrm rot="19526043">
            <a:off x="2952237" y="5060280"/>
            <a:ext cx="1137855" cy="363636"/>
          </a:xfrm>
          <a:prstGeom prst="rightArrow">
            <a:avLst/>
          </a:prstGeom>
          <a:solidFill>
            <a:srgbClr val="FF0000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黑体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F66074C-F176-9F6B-0283-6DC12EEBD90F}"/>
                  </a:ext>
                </a:extLst>
              </p:cNvPr>
              <p:cNvSpPr txBox="1"/>
              <p:nvPr/>
            </p:nvSpPr>
            <p:spPr>
              <a:xfrm>
                <a:off x="467544" y="2841897"/>
                <a:ext cx="219348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F66074C-F176-9F6B-0283-6DC12EEBD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2841897"/>
                <a:ext cx="2193485" cy="276999"/>
              </a:xfrm>
              <a:prstGeom prst="rect">
                <a:avLst/>
              </a:prstGeom>
              <a:blipFill>
                <a:blip r:embed="rId3"/>
                <a:stretch>
                  <a:fillRect l="-556" r="-2778" b="-369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A282E359-2230-DB54-43E4-64AF5FF9052D}"/>
                  </a:ext>
                </a:extLst>
              </p:cNvPr>
              <p:cNvSpPr txBox="1"/>
              <p:nvPr/>
            </p:nvSpPr>
            <p:spPr>
              <a:xfrm>
                <a:off x="467544" y="3791549"/>
                <a:ext cx="3210686" cy="5735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𝑑𝑝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b>
                          </m:sSub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𝑚𝑖𝑥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𝑠𝑚</m:t>
                              </m:r>
                            </m:sub>
                          </m:sSub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A282E359-2230-DB54-43E4-64AF5FF905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3791549"/>
                <a:ext cx="3210686" cy="57355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本框 17">
            <a:extLst>
              <a:ext uri="{FF2B5EF4-FFF2-40B4-BE49-F238E27FC236}">
                <a16:creationId xmlns:a16="http://schemas.microsoft.com/office/drawing/2014/main" id="{2B96FA27-D768-DFB5-DD78-713985CA658A}"/>
              </a:ext>
            </a:extLst>
          </p:cNvPr>
          <p:cNvSpPr txBox="1"/>
          <p:nvPr/>
        </p:nvSpPr>
        <p:spPr>
          <a:xfrm>
            <a:off x="467544" y="3293096"/>
            <a:ext cx="76328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0066"/>
                </a:solidFill>
                <a:latin typeface="+mn-lt"/>
                <a:ea typeface="+mn-ea"/>
              </a:rPr>
              <a:t>歧管出口压力通过积分得到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8" name="3D 模型 7">
                <a:extLst>
                  <a:ext uri="{FF2B5EF4-FFF2-40B4-BE49-F238E27FC236}">
                    <a16:creationId xmlns:a16="http://schemas.microsoft.com/office/drawing/2014/main" id="{4A51F498-8D71-F662-46B9-EFF7E614F8D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46200523"/>
                  </p:ext>
                </p:extLst>
              </p:nvPr>
            </p:nvGraphicFramePr>
            <p:xfrm>
              <a:off x="3856320" y="3213979"/>
              <a:ext cx="4433256" cy="2302249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4433256" cy="2302249"/>
                    </a:xfrm>
                    <a:prstGeom prst="rect">
                      <a:avLst/>
                    </a:prstGeom>
                  </am3d:spPr>
                  <am3d:camera>
                    <am3d:pos x="0" y="0" z="5858983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883" d="1000000"/>
                    <am3d:preTrans dx="-11481349" dy="-6848066" dz="18039628"/>
                    <am3d:scale>
                      <am3d:sx n="1000000" d="1000000"/>
                      <am3d:sy n="1000000" d="1000000"/>
                      <am3d:sz n="1000000" d="1000000"/>
                    </am3d:scale>
                    <am3d:rot ax="2650938" ay="2978845" az="2191474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568902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8" name="3D 模型 7">
                <a:extLst>
                  <a:ext uri="{FF2B5EF4-FFF2-40B4-BE49-F238E27FC236}">
                    <a16:creationId xmlns:a16="http://schemas.microsoft.com/office/drawing/2014/main" id="{4A51F498-8D71-F662-46B9-EFF7E614F8D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856320" y="3213979"/>
                <a:ext cx="4433256" cy="2302249"/>
              </a:xfrm>
              <a:prstGeom prst="rect">
                <a:avLst/>
              </a:prstGeom>
            </p:spPr>
          </p:pic>
        </mc:Fallback>
      </mc:AlternateContent>
      <p:sp>
        <p:nvSpPr>
          <p:cNvPr id="24" name="箭头: 右 23">
            <a:extLst>
              <a:ext uri="{FF2B5EF4-FFF2-40B4-BE49-F238E27FC236}">
                <a16:creationId xmlns:a16="http://schemas.microsoft.com/office/drawing/2014/main" id="{20BFDC05-626C-D1C3-315F-C4BBAE3D015B}"/>
              </a:ext>
            </a:extLst>
          </p:cNvPr>
          <p:cNvSpPr/>
          <p:nvPr/>
        </p:nvSpPr>
        <p:spPr bwMode="auto">
          <a:xfrm rot="8117679">
            <a:off x="5934434" y="5739889"/>
            <a:ext cx="1137855" cy="363636"/>
          </a:xfrm>
          <a:prstGeom prst="rightArrow">
            <a:avLst/>
          </a:prstGeom>
          <a:solidFill>
            <a:srgbClr val="FF0000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黑体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15616DCB-ADDF-CA2C-E5ED-0D278A048578}"/>
                  </a:ext>
                </a:extLst>
              </p:cNvPr>
              <p:cNvSpPr txBox="1"/>
              <p:nvPr/>
            </p:nvSpPr>
            <p:spPr>
              <a:xfrm>
                <a:off x="2250283" y="5714604"/>
                <a:ext cx="1171667" cy="7409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zh-CN" altLang="en-US" sz="1600" dirty="0"/>
                  <a:t>前端压力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endParaRPr lang="en-US" altLang="zh-CN" sz="1600" dirty="0"/>
              </a:p>
              <a:p>
                <a:r>
                  <a:rPr lang="zh-CN" altLang="en-US" sz="1600" dirty="0"/>
                  <a:t>前端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</a:rPr>
                      <m:t>温度</m:t>
                    </m:r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endParaRPr lang="en-US" altLang="zh-CN" sz="1600" dirty="0"/>
              </a:p>
              <a:p>
                <a:r>
                  <a:rPr lang="zh-CN" altLang="en-US" sz="1600" dirty="0"/>
                  <a:t>前端流量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15616DCB-ADDF-CA2C-E5ED-0D278A0485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0283" y="5714604"/>
                <a:ext cx="1171667" cy="740908"/>
              </a:xfrm>
              <a:prstGeom prst="rect">
                <a:avLst/>
              </a:prstGeom>
              <a:blipFill>
                <a:blip r:embed="rId7"/>
                <a:stretch>
                  <a:fillRect l="-10417" t="-8197" r="-1042" b="-163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文本框 27">
            <a:extLst>
              <a:ext uri="{FF2B5EF4-FFF2-40B4-BE49-F238E27FC236}">
                <a16:creationId xmlns:a16="http://schemas.microsoft.com/office/drawing/2014/main" id="{A0A4AF2D-2C84-69DA-4DFB-FB1FBEF2490E}"/>
              </a:ext>
            </a:extLst>
          </p:cNvPr>
          <p:cNvSpPr txBox="1"/>
          <p:nvPr/>
        </p:nvSpPr>
        <p:spPr>
          <a:xfrm>
            <a:off x="467544" y="2013752"/>
            <a:ext cx="76328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0066"/>
                </a:solidFill>
                <a:latin typeface="+mn-lt"/>
                <a:ea typeface="+mn-ea"/>
              </a:rPr>
              <a:t>管道中的温降忽略不计。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06FAC831-882A-DC36-233D-AA3CB2B97B0B}"/>
                  </a:ext>
                </a:extLst>
              </p:cNvPr>
              <p:cNvSpPr txBox="1"/>
              <p:nvPr/>
            </p:nvSpPr>
            <p:spPr>
              <a:xfrm>
                <a:off x="5706667" y="3236620"/>
                <a:ext cx="1123577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zh-CN" altLang="en-US" sz="1600" dirty="0"/>
                  <a:t>管道体积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𝑠𝑚</m:t>
                        </m:r>
                      </m:sub>
                    </m:sSub>
                  </m:oMath>
                </a14:m>
                <a:endParaRPr lang="en-US" altLang="zh-CN" sz="1600" dirty="0"/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06FAC831-882A-DC36-233D-AA3CB2B97B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6667" y="3236620"/>
                <a:ext cx="1123577" cy="246221"/>
              </a:xfrm>
              <a:prstGeom prst="rect">
                <a:avLst/>
              </a:prstGeom>
              <a:blipFill>
                <a:blip r:embed="rId8"/>
                <a:stretch>
                  <a:fillRect l="-10870" t="-27500" r="-1630" b="-5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6152487"/>
      </p:ext>
    </p:extLst>
  </p:cSld>
  <p:clrMapOvr>
    <a:masterClrMapping/>
  </p:clrMapOvr>
  <p:transition>
    <p:random/>
  </p:transition>
</p:sld>
</file>

<file path=ppt/theme/theme1.xml><?xml version="1.0" encoding="utf-8"?>
<a:theme xmlns:a="http://schemas.openxmlformats.org/drawingml/2006/main" name="AETC">
  <a:themeElements>
    <a:clrScheme name="AETC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AETC">
      <a:majorFont>
        <a:latin typeface="Verdana"/>
        <a:ea typeface="黑体"/>
        <a:cs typeface="宋体"/>
      </a:majorFont>
      <a:minorFont>
        <a:latin typeface="Verdana"/>
        <a:ea typeface="楷体_GB2312"/>
        <a:cs typeface="宋体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9050" cap="flat" cmpd="sng" algn="ctr">
          <a:solidFill>
            <a:srgbClr val="FF66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黑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9050" cap="flat" cmpd="sng" algn="ctr">
          <a:solidFill>
            <a:srgbClr val="FF66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黑体" pitchFamily="2" charset="-122"/>
          </a:defRPr>
        </a:defPPr>
      </a:lstStyle>
    </a:lnDef>
  </a:objectDefaults>
  <a:extraClrSchemeLst>
    <a:extraClrScheme>
      <a:clrScheme name="AETC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ETC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ETC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ETC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ETC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ETC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ETC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ETC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ETC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42591</TotalTime>
  <Words>831</Words>
  <Application>Microsoft Office PowerPoint</Application>
  <PresentationFormat>全屏显示(4:3)</PresentationFormat>
  <Paragraphs>147</Paragraphs>
  <Slides>8</Slides>
  <Notes>7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Arial</vt:lpstr>
      <vt:lpstr>Calibri</vt:lpstr>
      <vt:lpstr>Cambria Math</vt:lpstr>
      <vt:lpstr>Verdana</vt:lpstr>
      <vt:lpstr>Wingdings</vt:lpstr>
      <vt:lpstr>AETC</vt:lpstr>
      <vt:lpstr>Equation</vt:lpstr>
      <vt:lpstr>三、燃料电池系统建模</vt:lpstr>
      <vt:lpstr>三、燃料电池系统建模</vt:lpstr>
      <vt:lpstr>三、燃料电池系统建模</vt:lpstr>
      <vt:lpstr>三、燃料电池系统建模</vt:lpstr>
      <vt:lpstr>三、燃料电池系统建模</vt:lpstr>
      <vt:lpstr>三、燃料电池系统建模</vt:lpstr>
      <vt:lpstr>三、燃料电池系统建模</vt:lpstr>
      <vt:lpstr>三、燃料电池系统建模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车用发动机构造与原理  第一章 绪 论</dc:title>
  <dc:creator>hankai</dc:creator>
  <cp:lastModifiedBy>wxy</cp:lastModifiedBy>
  <cp:revision>1528</cp:revision>
  <dcterms:created xsi:type="dcterms:W3CDTF">2013-11-04T08:28:54Z</dcterms:created>
  <dcterms:modified xsi:type="dcterms:W3CDTF">2025-08-22T06:23:44Z</dcterms:modified>
</cp:coreProperties>
</file>